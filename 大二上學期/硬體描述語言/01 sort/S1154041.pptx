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1" r:id="rId1"/>
  </p:sldMasterIdLst>
  <p:notesMasterIdLst>
    <p:notesMasterId r:id="rId14"/>
  </p:notesMasterIdLst>
  <p:handoutMasterIdLst>
    <p:handoutMasterId r:id="rId15"/>
  </p:handoutMasterIdLst>
  <p:sldIdLst>
    <p:sldId id="499" r:id="rId2"/>
    <p:sldId id="823" r:id="rId3"/>
    <p:sldId id="821" r:id="rId4"/>
    <p:sldId id="831" r:id="rId5"/>
    <p:sldId id="833" r:id="rId6"/>
    <p:sldId id="822" r:id="rId7"/>
    <p:sldId id="835" r:id="rId8"/>
    <p:sldId id="824" r:id="rId9"/>
    <p:sldId id="834" r:id="rId10"/>
    <p:sldId id="827" r:id="rId11"/>
    <p:sldId id="828" r:id="rId12"/>
    <p:sldId id="832" r:id="rId13"/>
  </p:sldIdLst>
  <p:sldSz cx="9144000" cy="6858000" type="screen4x3"/>
  <p:notesSz cx="9777413" cy="6646863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ahoma" pitchFamily="34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ahoma" pitchFamily="34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ahoma" pitchFamily="34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ahoma" pitchFamily="34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ahoma" pitchFamily="34" charset="0"/>
        <a:ea typeface="新細明體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Tahoma" pitchFamily="34" charset="0"/>
        <a:ea typeface="新細明體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Tahoma" pitchFamily="34" charset="0"/>
        <a:ea typeface="新細明體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Tahoma" pitchFamily="34" charset="0"/>
        <a:ea typeface="新細明體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Tahoma" pitchFamily="34" charset="0"/>
        <a:ea typeface="新細明體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094" userDrawn="1">
          <p15:clr>
            <a:srgbClr val="A4A3A4"/>
          </p15:clr>
        </p15:guide>
        <p15:guide id="2" pos="307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0000FF"/>
    <a:srgbClr val="006600"/>
    <a:srgbClr val="009999"/>
    <a:srgbClr val="FF6600"/>
    <a:srgbClr val="FFCCFF"/>
    <a:srgbClr val="FF99FF"/>
    <a:srgbClr val="66FF99"/>
    <a:srgbClr val="FF9900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54" autoAdjust="0"/>
    <p:restoredTop sz="99094" autoAdjust="0"/>
  </p:normalViewPr>
  <p:slideViewPr>
    <p:cSldViewPr>
      <p:cViewPr varScale="1">
        <p:scale>
          <a:sx n="69" d="100"/>
          <a:sy n="69" d="100"/>
        </p:scale>
        <p:origin x="1267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-726" y="-102"/>
      </p:cViewPr>
      <p:guideLst>
        <p:guide orient="horz" pos="2094"/>
        <p:guide pos="307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236827" cy="331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95" tIns="45698" rIns="91395" bIns="45698" numCol="1" anchor="t" anchorCtr="0" compatLnSpc="1">
            <a:prstTxWarp prst="textNoShape">
              <a:avLst/>
            </a:prstTxWarp>
          </a:bodyPr>
          <a:lstStyle>
            <a:lvl1pPr defTabSz="914646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40587" y="0"/>
            <a:ext cx="4235261" cy="331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95" tIns="45698" rIns="91395" bIns="45698" numCol="1" anchor="t" anchorCtr="0" compatLnSpc="1">
            <a:prstTxWarp prst="textNoShape">
              <a:avLst/>
            </a:prstTxWarp>
          </a:bodyPr>
          <a:lstStyle>
            <a:lvl1pPr algn="r" defTabSz="914646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9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6314131"/>
            <a:ext cx="4236827" cy="331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95" tIns="45698" rIns="91395" bIns="45698" numCol="1" anchor="b" anchorCtr="0" compatLnSpc="1">
            <a:prstTxWarp prst="textNoShape">
              <a:avLst/>
            </a:prstTxWarp>
          </a:bodyPr>
          <a:lstStyle>
            <a:lvl1pPr defTabSz="914646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9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40587" y="6314131"/>
            <a:ext cx="4235261" cy="331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95" tIns="45698" rIns="91395" bIns="45698" numCol="1" anchor="b" anchorCtr="0" compatLnSpc="1">
            <a:prstTxWarp prst="textNoShape">
              <a:avLst/>
            </a:prstTxWarp>
          </a:bodyPr>
          <a:lstStyle>
            <a:lvl1pPr algn="r" defTabSz="914646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fld id="{CE7E4225-0E39-449B-9FE9-1E3686815B00}" type="slidenum">
              <a:rPr lang="en-US" altLang="zh-TW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8599083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236827" cy="331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58" tIns="45680" rIns="91358" bIns="45680" numCol="1" anchor="t" anchorCtr="0" compatLnSpc="1">
            <a:prstTxWarp prst="textNoShape">
              <a:avLst/>
            </a:prstTxWarp>
          </a:bodyPr>
          <a:lstStyle>
            <a:lvl1pPr defTabSz="914646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40587" y="0"/>
            <a:ext cx="4235261" cy="331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58" tIns="45680" rIns="91358" bIns="45680" numCol="1" anchor="t" anchorCtr="0" compatLnSpc="1">
            <a:prstTxWarp prst="textNoShape">
              <a:avLst/>
            </a:prstTxWarp>
          </a:bodyPr>
          <a:lstStyle>
            <a:lvl1pPr algn="r" defTabSz="914646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30563" y="498475"/>
            <a:ext cx="3322637" cy="24923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3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9776" y="3156288"/>
            <a:ext cx="7817861" cy="29914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58" tIns="45680" rIns="91358" bIns="456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553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314131"/>
            <a:ext cx="4236827" cy="331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58" tIns="45680" rIns="91358" bIns="45680" numCol="1" anchor="b" anchorCtr="0" compatLnSpc="1">
            <a:prstTxWarp prst="textNoShape">
              <a:avLst/>
            </a:prstTxWarp>
          </a:bodyPr>
          <a:lstStyle>
            <a:lvl1pPr defTabSz="914646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53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40587" y="6314131"/>
            <a:ext cx="4235261" cy="331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58" tIns="45680" rIns="91358" bIns="45680" numCol="1" anchor="b" anchorCtr="0" compatLnSpc="1">
            <a:prstTxWarp prst="textNoShape">
              <a:avLst/>
            </a:prstTxWarp>
          </a:bodyPr>
          <a:lstStyle>
            <a:lvl1pPr algn="r" defTabSz="914646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fld id="{5783477C-868C-43C0-8915-4C5A1F3BC6E6}" type="slidenum">
              <a:rPr lang="en-US" altLang="zh-TW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50082678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ncue.edu.tw/~ncue1/logo/LOGO1-1.jpg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校徽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80288" y="287338"/>
            <a:ext cx="1511300" cy="151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投影片編號版面配置區 1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7E46A9-EAA2-42F2-A666-77F26773B2E6}" type="slidenum">
              <a:rPr lang="en-US" altLang="zh-TW"/>
              <a:pPr>
                <a:defRPr/>
              </a:pPr>
              <a:t>‹#›</a:t>
            </a:fld>
            <a:endParaRPr lang="en-US" altLang="zh-TW" dirty="0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  <a:ea typeface="微軟正黑體" pitchFamily="34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2000" y="1368000"/>
            <a:ext cx="8280000" cy="5328000"/>
          </a:xfrm>
        </p:spPr>
        <p:txBody>
          <a:bodyPr/>
          <a:lstStyle>
            <a:lvl1pPr>
              <a:buSzPct val="80000"/>
              <a:defRPr>
                <a:latin typeface="+mn-lt"/>
                <a:ea typeface="微軟正黑體" pitchFamily="34" charset="-120"/>
              </a:defRPr>
            </a:lvl1pPr>
            <a:lvl2pPr>
              <a:buSzPct val="80000"/>
              <a:defRPr>
                <a:latin typeface="+mn-lt"/>
                <a:ea typeface="微軟正黑體" pitchFamily="34" charset="-120"/>
              </a:defRPr>
            </a:lvl2pPr>
            <a:lvl3pPr>
              <a:buSzPct val="80000"/>
              <a:defRPr>
                <a:latin typeface="+mn-lt"/>
                <a:ea typeface="微軟正黑體" pitchFamily="34" charset="-120"/>
              </a:defRPr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6739E1-4F7D-4A52-BD40-FD1F0A58EA9D}" type="slidenum">
              <a:rPr lang="en-US" altLang="zh-TW"/>
              <a:pPr>
                <a:defRPr/>
              </a:pPr>
              <a:t>‹#›</a:t>
            </a:fld>
            <a:endParaRPr lang="en-US" altLang="zh-TW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049" name="Rectangle 9"/>
          <p:cNvSpPr>
            <a:spLocks noChangeArrowheads="1"/>
          </p:cNvSpPr>
          <p:nvPr/>
        </p:nvSpPr>
        <p:spPr bwMode="gray">
          <a:xfrm>
            <a:off x="431800" y="1152525"/>
            <a:ext cx="8280400" cy="317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28575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TW" altLang="zh-TW" sz="2400">
              <a:ea typeface="新細明體" pitchFamily="18" charset="-120"/>
            </a:endParaRPr>
          </a:p>
        </p:txBody>
      </p:sp>
      <p:sp>
        <p:nvSpPr>
          <p:cNvPr id="14339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31800" y="107950"/>
            <a:ext cx="8280400" cy="1008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4340" name="Rectangle 1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1800" y="1368425"/>
            <a:ext cx="8280400" cy="532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62305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72338" y="6408738"/>
            <a:ext cx="1800225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>
                <a:latin typeface="+mn-lt"/>
                <a:ea typeface="新細明體" pitchFamily="18" charset="-120"/>
              </a:defRPr>
            </a:lvl1pPr>
          </a:lstStyle>
          <a:p>
            <a:pPr>
              <a:defRPr/>
            </a:pPr>
            <a:fld id="{F5B522CD-1265-442D-B95B-E5D0EB5D6696}" type="slidenum">
              <a:rPr lang="en-US" altLang="zh-TW"/>
              <a:pPr>
                <a:defRPr/>
              </a:pPr>
              <a:t>‹#›</a:t>
            </a:fld>
            <a:endParaRPr lang="en-US" altLang="zh-TW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08" r:id="rId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0000CC"/>
          </a:solidFill>
          <a:latin typeface="+mn-lt"/>
          <a:ea typeface="微軟正黑體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0000CC"/>
          </a:solidFill>
          <a:latin typeface="Arial" charset="0"/>
          <a:ea typeface="微軟正黑體" pitchFamily="34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0000CC"/>
          </a:solidFill>
          <a:latin typeface="Arial" charset="0"/>
          <a:ea typeface="微軟正黑體" pitchFamily="34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0000CC"/>
          </a:solidFill>
          <a:latin typeface="Arial" charset="0"/>
          <a:ea typeface="微軟正黑體" pitchFamily="34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0000CC"/>
          </a:solidFill>
          <a:latin typeface="Arial" charset="0"/>
          <a:ea typeface="微軟正黑體" pitchFamily="34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rgbClr val="0000CC"/>
          </a:solidFill>
          <a:latin typeface="Arial" charset="0"/>
          <a:ea typeface="標楷體" pitchFamily="65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rgbClr val="0000CC"/>
          </a:solidFill>
          <a:latin typeface="Arial" charset="0"/>
          <a:ea typeface="標楷體" pitchFamily="65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rgbClr val="0000CC"/>
          </a:solidFill>
          <a:latin typeface="Arial" charset="0"/>
          <a:ea typeface="標楷體" pitchFamily="65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rgbClr val="0000CC"/>
          </a:solidFill>
          <a:latin typeface="Arial" charset="0"/>
          <a:ea typeface="標楷體" pitchFamily="65" charset="-120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ts val="600"/>
        </a:spcBef>
        <a:spcAft>
          <a:spcPct val="0"/>
        </a:spcAft>
        <a:buClr>
          <a:srgbClr val="FF6600"/>
        </a:buClr>
        <a:buSzPct val="8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微軟正黑體" pitchFamily="34" charset="-120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ts val="600"/>
        </a:spcBef>
        <a:spcAft>
          <a:spcPct val="0"/>
        </a:spcAft>
        <a:buClr>
          <a:srgbClr val="006600"/>
        </a:buClr>
        <a:buSzPct val="80000"/>
        <a:buFont typeface="Wingdings" pitchFamily="2" charset="2"/>
        <a:buChar char="l"/>
        <a:defRPr kumimoji="1" sz="2200">
          <a:solidFill>
            <a:schemeClr val="tx1"/>
          </a:solidFill>
          <a:latin typeface="+mn-lt"/>
          <a:ea typeface="微軟正黑體" pitchFamily="34" charset="-120"/>
        </a:defRPr>
      </a:lvl2pPr>
      <a:lvl3pPr marL="1143000" indent="-228600" algn="l" rtl="0" eaLnBrk="0" fontAlgn="base" hangingPunct="0">
        <a:lnSpc>
          <a:spcPct val="120000"/>
        </a:lnSpc>
        <a:spcBef>
          <a:spcPts val="600"/>
        </a:spcBef>
        <a:spcAft>
          <a:spcPct val="0"/>
        </a:spcAft>
        <a:buClr>
          <a:srgbClr val="7030A0"/>
        </a:buClr>
        <a:buSzPct val="80000"/>
        <a:buFont typeface="Arial" charset="0"/>
        <a:buChar char="−"/>
        <a:defRPr kumimoji="1" sz="2000">
          <a:solidFill>
            <a:schemeClr val="tx1"/>
          </a:solidFill>
          <a:latin typeface="+mn-lt"/>
          <a:ea typeface="微軟正黑體" pitchFamily="34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kumimoji="1" sz="2000">
          <a:solidFill>
            <a:schemeClr val="tx1"/>
          </a:solidFill>
          <a:latin typeface="Tahoma" pitchFamily="34" charset="0"/>
          <a:ea typeface="新細明體" pitchFamily="18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Tahoma" pitchFamily="34" charset="0"/>
          <a:ea typeface="新細明體" pitchFamily="18" charset="-12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Tahoma" pitchFamily="34" charset="0"/>
          <a:ea typeface="新細明體" pitchFamily="18" charset="-12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Tahoma" pitchFamily="34" charset="0"/>
          <a:ea typeface="新細明體" pitchFamily="18" charset="-12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Tahoma" pitchFamily="34" charset="0"/>
          <a:ea typeface="新細明體" pitchFamily="18" charset="-12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Tahoma" pitchFamily="34" charset="0"/>
          <a:ea typeface="新細明體" pitchFamily="18" charset="-12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 txBox="1">
            <a:spLocks/>
          </p:cNvSpPr>
          <p:nvPr/>
        </p:nvSpPr>
        <p:spPr bwMode="auto">
          <a:xfrm>
            <a:off x="792163" y="647700"/>
            <a:ext cx="7199312" cy="5661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ts val="600"/>
              </a:spcBef>
              <a:defRPr/>
            </a:pPr>
            <a:r>
              <a:rPr lang="zh-TW" altLang="en-US" sz="2800" b="1" u="sng" dirty="0">
                <a:solidFill>
                  <a:srgbClr val="0070C0"/>
                </a:solidFill>
                <a:latin typeface="微軟正黑體" pitchFamily="34" charset="-120"/>
                <a:ea typeface="微軟正黑體" pitchFamily="34" charset="-120"/>
              </a:rPr>
              <a:t>硬體描述語言</a:t>
            </a:r>
            <a:endParaRPr lang="en-US" altLang="zh-TW" sz="2800" b="1" u="sng" dirty="0">
              <a:solidFill>
                <a:srgbClr val="0070C0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spcBef>
                <a:spcPts val="600"/>
              </a:spcBef>
              <a:defRPr/>
            </a:pPr>
            <a:br>
              <a:rPr lang="en-US" altLang="zh-TW" sz="2800" b="1" u="sng" kern="0" dirty="0">
                <a:solidFill>
                  <a:srgbClr val="0070C0"/>
                </a:solidFill>
                <a:latin typeface="微軟正黑體" pitchFamily="34" charset="-120"/>
                <a:ea typeface="微軟正黑體" pitchFamily="34" charset="-120"/>
                <a:cs typeface="+mj-cs"/>
              </a:rPr>
            </a:br>
            <a:r>
              <a:rPr lang="en-US" altLang="zh-TW" sz="4000" b="1" u="sng" dirty="0">
                <a:solidFill>
                  <a:srgbClr val="0070C0"/>
                </a:solidFill>
                <a:latin typeface="微軟正黑體" pitchFamily="34" charset="-120"/>
                <a:ea typeface="新細明體" pitchFamily="18" charset="-120"/>
              </a:rPr>
              <a:t> </a:t>
            </a:r>
            <a:endParaRPr lang="en-US" altLang="zh-TW" sz="4000" b="1" dirty="0">
              <a:solidFill>
                <a:srgbClr val="0070C0"/>
              </a:solidFill>
              <a:latin typeface="微軟正黑體" pitchFamily="34" charset="-120"/>
              <a:ea typeface="新細明體" pitchFamily="18" charset="-120"/>
            </a:endParaRPr>
          </a:p>
          <a:p>
            <a:pPr algn="ctr">
              <a:defRPr/>
            </a:pPr>
            <a:r>
              <a:rPr lang="en-US" altLang="zh-TW" sz="3600" b="1" dirty="0">
                <a:solidFill>
                  <a:srgbClr val="0070C0"/>
                </a:solidFill>
                <a:latin typeface="微軟正黑體" pitchFamily="34" charset="-120"/>
                <a:ea typeface="微軟正黑體" pitchFamily="34" charset="-120"/>
              </a:rPr>
              <a:t>Homework 01</a:t>
            </a:r>
          </a:p>
          <a:p>
            <a:pPr algn="ctr">
              <a:defRPr/>
            </a:pPr>
            <a:endParaRPr lang="en-US" altLang="zh-TW" sz="3600" b="1" dirty="0">
              <a:solidFill>
                <a:srgbClr val="0070C0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defRPr/>
            </a:pPr>
            <a:endParaRPr lang="en-US" altLang="zh-TW" sz="3600" b="1" dirty="0">
              <a:solidFill>
                <a:srgbClr val="0070C0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1795463">
              <a:spcBef>
                <a:spcPts val="600"/>
              </a:spcBef>
              <a:defRPr/>
            </a:pPr>
            <a:r>
              <a:rPr lang="zh-TW" altLang="en-US" sz="2800" b="1" kern="0" dirty="0">
                <a:latin typeface="微軟正黑體" pitchFamily="34" charset="-120"/>
                <a:ea typeface="微軟正黑體" pitchFamily="34" charset="-120"/>
              </a:rPr>
              <a:t>班級：資工二</a:t>
            </a:r>
            <a:endParaRPr lang="en-US" altLang="zh-TW" sz="2800" b="1" kern="0" dirty="0">
              <a:latin typeface="微軟正黑體" pitchFamily="34" charset="-120"/>
              <a:ea typeface="微軟正黑體" pitchFamily="34" charset="-120"/>
            </a:endParaRPr>
          </a:p>
          <a:p>
            <a:pPr marL="1795463">
              <a:spcBef>
                <a:spcPts val="600"/>
              </a:spcBef>
              <a:defRPr/>
            </a:pPr>
            <a:r>
              <a:rPr lang="zh-TW" altLang="en-US" sz="2800" b="1" kern="0" dirty="0">
                <a:latin typeface="微軟正黑體" pitchFamily="34" charset="-120"/>
                <a:ea typeface="微軟正黑體" pitchFamily="34" charset="-120"/>
              </a:rPr>
              <a:t>學號：</a:t>
            </a:r>
            <a:r>
              <a:rPr lang="en-US" altLang="zh-TW" sz="2800" b="1" kern="0" dirty="0">
                <a:latin typeface="微軟正黑體" pitchFamily="34" charset="-120"/>
                <a:ea typeface="微軟正黑體" pitchFamily="34" charset="-120"/>
              </a:rPr>
              <a:t>S1154041	</a:t>
            </a:r>
          </a:p>
          <a:p>
            <a:pPr marL="1795463">
              <a:spcBef>
                <a:spcPts val="600"/>
              </a:spcBef>
              <a:defRPr/>
            </a:pPr>
            <a:r>
              <a:rPr lang="zh-TW" altLang="en-US" sz="2800" b="1" kern="0" dirty="0">
                <a:latin typeface="微軟正黑體" pitchFamily="34" charset="-120"/>
                <a:ea typeface="微軟正黑體" pitchFamily="34" charset="-120"/>
              </a:rPr>
              <a:t>姓名：邱立宇</a:t>
            </a:r>
            <a:endParaRPr lang="en-US" altLang="zh-TW" sz="2800" b="1" kern="0" dirty="0">
              <a:latin typeface="微軟正黑體" pitchFamily="34" charset="-120"/>
              <a:ea typeface="微軟正黑體" pitchFamily="34" charset="-120"/>
            </a:endParaRPr>
          </a:p>
          <a:p>
            <a:pPr marL="1795463">
              <a:spcBef>
                <a:spcPts val="600"/>
              </a:spcBef>
              <a:defRPr/>
            </a:pPr>
            <a:r>
              <a:rPr lang="zh-TW" altLang="en-US" sz="2800" b="1" kern="0" dirty="0">
                <a:latin typeface="微軟正黑體" pitchFamily="34" charset="-120"/>
                <a:ea typeface="微軟正黑體" pitchFamily="34" charset="-120"/>
              </a:rPr>
              <a:t>日期：</a:t>
            </a:r>
            <a:r>
              <a:rPr lang="en-US" altLang="zh-TW" sz="2800" b="1" kern="0" dirty="0">
                <a:latin typeface="微軟正黑體" pitchFamily="34" charset="-120"/>
                <a:ea typeface="微軟正黑體" pitchFamily="34" charset="-120"/>
              </a:rPr>
              <a:t>2023/10/26</a:t>
            </a:r>
          </a:p>
          <a:p>
            <a:pPr algn="ctr">
              <a:defRPr/>
            </a:pPr>
            <a:endParaRPr lang="zh-TW" altLang="en-US" sz="3600" b="1" dirty="0">
              <a:solidFill>
                <a:srgbClr val="0070C0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defRPr/>
            </a:pPr>
            <a:endParaRPr lang="zh-TW" altLang="en-US" sz="3600" b="1" dirty="0">
              <a:solidFill>
                <a:srgbClr val="0070C0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spcBef>
                <a:spcPts val="600"/>
              </a:spcBef>
              <a:defRPr/>
            </a:pPr>
            <a:endParaRPr lang="zh-TW" altLang="en-US" sz="3400" b="1" kern="0" dirty="0">
              <a:solidFill>
                <a:srgbClr val="0070C0"/>
              </a:solidFill>
              <a:latin typeface="微軟正黑體" pitchFamily="34" charset="-120"/>
              <a:ea typeface="微軟正黑體" pitchFamily="34" charset="-120"/>
              <a:cs typeface="+mj-cs"/>
            </a:endParaRPr>
          </a:p>
          <a:p>
            <a:pPr algn="ctr">
              <a:spcBef>
                <a:spcPts val="600"/>
              </a:spcBef>
              <a:defRPr/>
            </a:pPr>
            <a:endParaRPr lang="en-US" altLang="zh-TW" sz="3200" b="1" kern="0" dirty="0">
              <a:solidFill>
                <a:srgbClr val="0070C0"/>
              </a:solidFill>
              <a:latin typeface="微軟正黑體" pitchFamily="34" charset="-120"/>
              <a:ea typeface="微軟正黑體" pitchFamily="34" charset="-120"/>
              <a:cs typeface="+mj-cs"/>
            </a:endParaRPr>
          </a:p>
          <a:p>
            <a:pPr algn="ctr">
              <a:spcBef>
                <a:spcPts val="600"/>
              </a:spcBef>
              <a:defRPr/>
            </a:pPr>
            <a:endParaRPr lang="zh-TW" altLang="en-US" sz="3200" b="1" kern="0" dirty="0">
              <a:solidFill>
                <a:srgbClr val="0070C0"/>
              </a:solidFill>
              <a:latin typeface="微軟正黑體" pitchFamily="34" charset="-120"/>
              <a:ea typeface="微軟正黑體" pitchFamily="34" charset="-120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BD4581-D446-437D-A54B-68DDF2244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</a:t>
            </a:r>
            <a:br>
              <a:rPr lang="en-US" altLang="zh-TW" dirty="0"/>
            </a:br>
            <a:r>
              <a:rPr lang="en-US" altLang="zh-TW" dirty="0"/>
              <a:t>Verilog Code (sort4_tb.v)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2487684-1A4F-4C78-B498-993A6DB62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altLang="zh-TW" sz="1200" dirty="0"/>
              <a:t>module sort4_tb;</a:t>
            </a:r>
          </a:p>
          <a:p>
            <a:pPr marL="0" indent="0">
              <a:buNone/>
            </a:pPr>
            <a:r>
              <a:rPr lang="es-ES" altLang="zh-TW" sz="1200" dirty="0"/>
              <a:t>reg [7:0] x0, x1, x2, x3;</a:t>
            </a:r>
          </a:p>
          <a:p>
            <a:pPr marL="0" indent="0">
              <a:buNone/>
            </a:pPr>
            <a:r>
              <a:rPr lang="es-ES" altLang="zh-TW" sz="1200" dirty="0"/>
              <a:t>wire [7:0] y0, y1, y2, y3;</a:t>
            </a:r>
          </a:p>
          <a:p>
            <a:pPr marL="0" indent="0">
              <a:buNone/>
            </a:pPr>
            <a:r>
              <a:rPr lang="es-ES" altLang="zh-TW" sz="1200" dirty="0"/>
              <a:t>sort4 sorter(x0, x1, x2, x3, y0, y1, y2, y3);</a:t>
            </a:r>
          </a:p>
          <a:p>
            <a:pPr marL="0" indent="0">
              <a:buNone/>
            </a:pPr>
            <a:r>
              <a:rPr lang="es-ES" altLang="zh-TW" sz="1200" dirty="0"/>
              <a:t>initial</a:t>
            </a:r>
          </a:p>
          <a:p>
            <a:pPr marL="0" indent="0">
              <a:buNone/>
            </a:pPr>
            <a:r>
              <a:rPr lang="es-ES" altLang="zh-TW" sz="1200" dirty="0"/>
              <a:t> $monitor("TIme: %3t ns, Input: x0=%2d,x1=%2d,x2=%2d,x3=%2d,Output: y0=%2d,y1=%2d,y2=%2d,y3=%2d", $time,x0, x1, x2, x3, y0, y1, y2, y3);</a:t>
            </a:r>
          </a:p>
          <a:p>
            <a:pPr marL="0" indent="0">
              <a:buNone/>
            </a:pPr>
            <a:r>
              <a:rPr lang="es-ES" altLang="zh-TW" sz="1200" dirty="0"/>
              <a:t>initial begin</a:t>
            </a:r>
          </a:p>
          <a:p>
            <a:pPr marL="0" indent="0">
              <a:buNone/>
            </a:pPr>
            <a:r>
              <a:rPr lang="es-ES" altLang="zh-TW" sz="1200" dirty="0"/>
              <a:t>	#10 x0 = 8'd4; x1 = 8'd3; x2 = 8'd2; x3 = 8'd1;</a:t>
            </a:r>
          </a:p>
          <a:p>
            <a:pPr marL="0" indent="0">
              <a:buNone/>
            </a:pPr>
            <a:r>
              <a:rPr lang="es-ES" altLang="zh-TW" sz="1200" dirty="0"/>
              <a:t>	#10 x0 = 8’d1; x1 = 8’d4; x2 = 8’d3; x3 = 8’d2;</a:t>
            </a:r>
          </a:p>
          <a:p>
            <a:pPr marL="0" indent="0">
              <a:buNone/>
            </a:pPr>
            <a:r>
              <a:rPr lang="es-ES" altLang="zh-TW" sz="1200" dirty="0"/>
              <a:t>	#10 x0 = 8'd25; x1 = 8'd92; x2 = 8'd3; x3 = 8'd8;</a:t>
            </a:r>
          </a:p>
          <a:p>
            <a:pPr marL="0" indent="0">
              <a:buNone/>
            </a:pPr>
            <a:r>
              <a:rPr lang="es-ES" altLang="zh-TW" sz="1200" dirty="0"/>
              <a:t>	#10 x0 = 8'd32; x1 = 8'd0; x2 = 8'd79; x3 = 8'd64;</a:t>
            </a:r>
          </a:p>
          <a:p>
            <a:pPr marL="0" indent="0">
              <a:buNone/>
            </a:pPr>
            <a:r>
              <a:rPr lang="es-ES" altLang="zh-TW" sz="1200" dirty="0"/>
              <a:t>	#20 $finish;</a:t>
            </a:r>
          </a:p>
          <a:p>
            <a:pPr marL="0" indent="0">
              <a:buNone/>
            </a:pPr>
            <a:r>
              <a:rPr lang="es-ES" altLang="zh-TW" sz="1200" dirty="0"/>
              <a:t>end</a:t>
            </a:r>
          </a:p>
          <a:p>
            <a:pPr marL="0" indent="0">
              <a:buNone/>
            </a:pPr>
            <a:r>
              <a:rPr lang="es-ES" altLang="zh-TW" sz="1200" dirty="0"/>
              <a:t>endmodule</a:t>
            </a:r>
            <a:endParaRPr lang="zh-TW" altLang="en-US" sz="12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5B054EF-4C33-4E0A-99F7-33689C3C08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6739E1-4F7D-4A52-BD40-FD1F0A58EA9D}" type="slidenum">
              <a:rPr lang="en-US" altLang="zh-TW" smtClean="0"/>
              <a:pPr>
                <a:defRPr/>
              </a:pPr>
              <a:t>2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850863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</a:t>
            </a:r>
            <a:br>
              <a:rPr lang="en-US" altLang="zh-TW" dirty="0"/>
            </a:br>
            <a:r>
              <a:rPr lang="en-US" altLang="zh-TW" dirty="0"/>
              <a:t>Text Message Output (</a:t>
            </a:r>
            <a:r>
              <a:rPr lang="zh-TW" altLang="en-US" dirty="0"/>
              <a:t>無延遲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6739E1-4F7D-4A52-BD40-FD1F0A58EA9D}" type="slidenum">
              <a:rPr lang="en-US" altLang="zh-TW" smtClean="0"/>
              <a:pPr>
                <a:defRPr/>
              </a:pPr>
              <a:t>3</a:t>
            </a:fld>
            <a:endParaRPr lang="en-US" altLang="zh-TW" dirty="0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1A0412EC-AABB-4AD2-9634-D1AB45A5A99C}"/>
              </a:ext>
            </a:extLst>
          </p:cNvPr>
          <p:cNvSpPr txBox="1">
            <a:spLocks/>
          </p:cNvSpPr>
          <p:nvPr/>
        </p:nvSpPr>
        <p:spPr bwMode="auto">
          <a:xfrm>
            <a:off x="431800" y="1340768"/>
            <a:ext cx="8172648" cy="252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rgbClr val="FF6600"/>
              </a:buClr>
              <a:buSzPct val="8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微軟正黑體" pitchFamily="34" charset="-120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rgbClr val="006600"/>
              </a:buClr>
              <a:buSzPct val="80000"/>
              <a:buFont typeface="Wingdings" pitchFamily="2" charset="2"/>
              <a:buChar char="l"/>
              <a:defRPr kumimoji="1" sz="2200">
                <a:solidFill>
                  <a:schemeClr val="tx1"/>
                </a:solidFill>
                <a:latin typeface="+mn-lt"/>
                <a:ea typeface="微軟正黑體" pitchFamily="34" charset="-120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rgbClr val="7030A0"/>
              </a:buClr>
              <a:buSzPct val="80000"/>
              <a:buFont typeface="Arial" charset="0"/>
              <a:buChar char="−"/>
              <a:defRPr kumimoji="1" sz="2000">
                <a:solidFill>
                  <a:schemeClr val="tx1"/>
                </a:solidFill>
                <a:latin typeface="+mn-lt"/>
                <a:ea typeface="微軟正黑體" pitchFamily="34" charset="-12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marL="0" indent="0">
              <a:buNone/>
            </a:pPr>
            <a:r>
              <a:rPr lang="en-US" altLang="zh-TW" sz="1200" dirty="0"/>
              <a:t># </a:t>
            </a:r>
            <a:r>
              <a:rPr lang="en-US" altLang="zh-TW" sz="1200" dirty="0" err="1"/>
              <a:t>TIme</a:t>
            </a:r>
            <a:r>
              <a:rPr lang="en-US" altLang="zh-TW" sz="1200" dirty="0"/>
              <a:t>:   0 ns, Input: x0= x,x1= x,x2= x,x3= </a:t>
            </a:r>
            <a:r>
              <a:rPr lang="en-US" altLang="zh-TW" sz="1200" dirty="0" err="1"/>
              <a:t>x,Output</a:t>
            </a:r>
            <a:r>
              <a:rPr lang="en-US" altLang="zh-TW" sz="1200" dirty="0"/>
              <a:t>: y0= x,y1= x,y2= x,y3= x</a:t>
            </a:r>
          </a:p>
          <a:p>
            <a:pPr marL="0" indent="0">
              <a:buNone/>
            </a:pPr>
            <a:r>
              <a:rPr lang="en-US" altLang="zh-TW" sz="1200" dirty="0"/>
              <a:t># </a:t>
            </a:r>
            <a:r>
              <a:rPr lang="en-US" altLang="zh-TW" sz="1200" dirty="0" err="1"/>
              <a:t>TIme</a:t>
            </a:r>
            <a:r>
              <a:rPr lang="en-US" altLang="zh-TW" sz="1200" dirty="0"/>
              <a:t>:  10 ns, Input: x0= 4,x1= 3,x2= 2,x3= 1,Output: y0= 1,y1= 2,y2= 3,y3= 4</a:t>
            </a:r>
          </a:p>
          <a:p>
            <a:pPr marL="0" indent="0">
              <a:buNone/>
            </a:pPr>
            <a:r>
              <a:rPr lang="en-US" altLang="zh-TW" sz="1200" dirty="0"/>
              <a:t># </a:t>
            </a:r>
            <a:r>
              <a:rPr lang="en-US" altLang="zh-TW" sz="1200" dirty="0" err="1"/>
              <a:t>TIme</a:t>
            </a:r>
            <a:r>
              <a:rPr lang="en-US" altLang="zh-TW" sz="1200" dirty="0"/>
              <a:t>:  20 ns, Input: x0= 1,x1= 4,x2= 3,x3= 2,Output: y0= 1,y1= 2,y2= 3,y3= 4</a:t>
            </a:r>
          </a:p>
          <a:p>
            <a:pPr marL="0" indent="0">
              <a:buNone/>
            </a:pPr>
            <a:r>
              <a:rPr lang="en-US" altLang="zh-TW" sz="1200" dirty="0"/>
              <a:t># </a:t>
            </a:r>
            <a:r>
              <a:rPr lang="en-US" altLang="zh-TW" sz="1200" dirty="0" err="1"/>
              <a:t>TIme</a:t>
            </a:r>
            <a:r>
              <a:rPr lang="en-US" altLang="zh-TW" sz="1200" dirty="0"/>
              <a:t>:  30 ns, Input: x0=25,x1=92,x2= 3,x3= 8,Output: y0= 3,y1= 8,y2=25,y3=92</a:t>
            </a:r>
          </a:p>
          <a:p>
            <a:pPr marL="0" indent="0">
              <a:buNone/>
            </a:pPr>
            <a:r>
              <a:rPr lang="en-US" altLang="zh-TW" sz="1200" dirty="0"/>
              <a:t># </a:t>
            </a:r>
            <a:r>
              <a:rPr lang="en-US" altLang="zh-TW" sz="1200" dirty="0" err="1"/>
              <a:t>TIme</a:t>
            </a:r>
            <a:r>
              <a:rPr lang="en-US" altLang="zh-TW" sz="1200" dirty="0"/>
              <a:t>:  40 ns, Input: x0=32,x1= 0,x2=79,x3=64,Output: y0= 0,y1=32,y2=64,y3=79</a:t>
            </a:r>
          </a:p>
          <a:p>
            <a:pPr marL="0" indent="0">
              <a:buNone/>
            </a:pPr>
            <a:r>
              <a:rPr lang="en-US" altLang="zh-TW" sz="1200" dirty="0"/>
              <a:t># ** Note: $finish    : C:/intelFPGA/20.1/sort4_tb.v(12)</a:t>
            </a:r>
          </a:p>
          <a:p>
            <a:pPr marL="0" indent="0">
              <a:buNone/>
            </a:pPr>
            <a:r>
              <a:rPr lang="en-US" altLang="zh-TW" sz="1200" dirty="0"/>
              <a:t>#    Time: 60 </a:t>
            </a:r>
            <a:r>
              <a:rPr lang="en-US" altLang="zh-TW" sz="1200" dirty="0" err="1"/>
              <a:t>ps</a:t>
            </a:r>
            <a:r>
              <a:rPr lang="en-US" altLang="zh-TW" sz="1200" dirty="0"/>
              <a:t>  Iteration: 0  Instance: /sort4_tb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C31DBAC-3733-90DD-24B8-383B763BE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30" y="4653136"/>
            <a:ext cx="7725988" cy="1430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524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</a:t>
            </a:r>
            <a:br>
              <a:rPr lang="en-US" altLang="zh-TW" dirty="0"/>
            </a:br>
            <a:r>
              <a:rPr lang="en-US" altLang="zh-TW" dirty="0"/>
              <a:t>Text Message Output (</a:t>
            </a:r>
            <a:r>
              <a:rPr lang="zh-TW" altLang="en-US" dirty="0"/>
              <a:t>有延遲 </a:t>
            </a:r>
            <a:r>
              <a:rPr lang="en-US" altLang="zh-TW" dirty="0"/>
              <a:t>#2 )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6739E1-4F7D-4A52-BD40-FD1F0A58EA9D}" type="slidenum">
              <a:rPr lang="en-US" altLang="zh-TW" smtClean="0"/>
              <a:pPr>
                <a:defRPr/>
              </a:pPr>
              <a:t>4</a:t>
            </a:fld>
            <a:endParaRPr lang="en-US" altLang="zh-TW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A28B699D-E990-754E-DEFD-FEB906FE7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70" y="1988840"/>
            <a:ext cx="9079593" cy="4803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480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</a:t>
            </a:r>
            <a:br>
              <a:rPr lang="en-US" altLang="zh-TW" dirty="0"/>
            </a:br>
            <a:r>
              <a:rPr lang="en-US" altLang="zh-TW" dirty="0"/>
              <a:t>Simulation Waveform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無延遲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6739E1-4F7D-4A52-BD40-FD1F0A58EA9D}" type="slidenum">
              <a:rPr lang="en-US" altLang="zh-TW" smtClean="0"/>
              <a:pPr>
                <a:defRPr/>
              </a:pPr>
              <a:t>5</a:t>
            </a:fld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42B98E0-6960-FB41-1795-B5280F7C2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6792"/>
            <a:ext cx="9144000" cy="4646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116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</a:t>
            </a:r>
            <a:br>
              <a:rPr lang="en-US" altLang="zh-TW" dirty="0"/>
            </a:br>
            <a:r>
              <a:rPr lang="en-US" altLang="zh-TW" dirty="0"/>
              <a:t>Simulation Waveform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有延遲</a:t>
            </a:r>
            <a:r>
              <a:rPr lang="en-US" altLang="zh-TW" dirty="0"/>
              <a:t>#2)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6739E1-4F7D-4A52-BD40-FD1F0A58EA9D}" type="slidenum">
              <a:rPr lang="en-US" altLang="zh-TW" smtClean="0"/>
              <a:pPr>
                <a:defRPr/>
              </a:pPr>
              <a:t>6</a:t>
            </a:fld>
            <a:endParaRPr lang="en-US" altLang="zh-TW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7F01201-B0C9-929E-59D3-2BD67E6071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0463"/>
          <a:stretch/>
        </p:blipFill>
        <p:spPr>
          <a:xfrm>
            <a:off x="103447" y="1628800"/>
            <a:ext cx="9040553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01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AD47F5-A042-48D9-8603-F2146F2F4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FF0066"/>
                </a:solidFill>
              </a:rPr>
              <a:t>挑戰題</a:t>
            </a:r>
            <a:br>
              <a:rPr lang="en-US" altLang="zh-TW" dirty="0"/>
            </a:br>
            <a:r>
              <a:rPr lang="en-US" altLang="zh-TW" dirty="0"/>
              <a:t>sort8</a:t>
            </a:r>
            <a:r>
              <a:rPr lang="zh-TW" altLang="en-US" dirty="0"/>
              <a:t>電路方塊圖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FEBD73B-FEA6-4136-BC42-E373F33AC3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748464" y="6408738"/>
            <a:ext cx="324099" cy="360362"/>
          </a:xfrm>
        </p:spPr>
        <p:txBody>
          <a:bodyPr/>
          <a:lstStyle/>
          <a:p>
            <a:pPr>
              <a:defRPr/>
            </a:pPr>
            <a:fld id="{CA6739E1-4F7D-4A52-BD40-FD1F0A58EA9D}" type="slidenum">
              <a:rPr lang="en-US" altLang="zh-TW" smtClean="0"/>
              <a:pPr>
                <a:defRPr/>
              </a:pPr>
              <a:t>7</a:t>
            </a:fld>
            <a:endParaRPr lang="en-US" altLang="zh-TW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EB3FEEF-34C9-75C1-DCAE-3F6D6F5A9A70}"/>
              </a:ext>
            </a:extLst>
          </p:cNvPr>
          <p:cNvSpPr/>
          <p:nvPr/>
        </p:nvSpPr>
        <p:spPr>
          <a:xfrm>
            <a:off x="1699471" y="1624479"/>
            <a:ext cx="1287605" cy="9120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Sort4_1</a:t>
            </a:r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62EB06B-055F-1F58-7335-05E7A7FCD78B}"/>
              </a:ext>
            </a:extLst>
          </p:cNvPr>
          <p:cNvSpPr/>
          <p:nvPr/>
        </p:nvSpPr>
        <p:spPr>
          <a:xfrm>
            <a:off x="395536" y="1558694"/>
            <a:ext cx="590152" cy="2146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x0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E22B83-5239-29F7-8320-DF8CF80040C5}"/>
              </a:ext>
            </a:extLst>
          </p:cNvPr>
          <p:cNvSpPr/>
          <p:nvPr/>
        </p:nvSpPr>
        <p:spPr>
          <a:xfrm>
            <a:off x="395536" y="1811616"/>
            <a:ext cx="590152" cy="2146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x1</a:t>
            </a:r>
            <a:endParaRPr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D177BA4-4EE0-8047-2805-A1D3E4D17769}"/>
              </a:ext>
            </a:extLst>
          </p:cNvPr>
          <p:cNvSpPr/>
          <p:nvPr/>
        </p:nvSpPr>
        <p:spPr>
          <a:xfrm>
            <a:off x="395536" y="2064539"/>
            <a:ext cx="590152" cy="2146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x2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0CF834-5CF3-221E-D8B6-2CE836F13073}"/>
              </a:ext>
            </a:extLst>
          </p:cNvPr>
          <p:cNvSpPr/>
          <p:nvPr/>
        </p:nvSpPr>
        <p:spPr>
          <a:xfrm>
            <a:off x="395536" y="2317461"/>
            <a:ext cx="590152" cy="2146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x3</a:t>
            </a:r>
            <a:endParaRPr lang="zh-TW" altLang="en-US" dirty="0"/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083D0CAB-5C49-582A-F98D-3C4A489C2605}"/>
              </a:ext>
            </a:extLst>
          </p:cNvPr>
          <p:cNvCxnSpPr>
            <a:stCxn id="7" idx="3"/>
            <a:endCxn id="5" idx="1"/>
          </p:cNvCxnSpPr>
          <p:nvPr/>
        </p:nvCxnSpPr>
        <p:spPr>
          <a:xfrm>
            <a:off x="985688" y="1665995"/>
            <a:ext cx="713783" cy="4145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89D45811-6065-B0C8-5B7B-8ED5E8C1C76A}"/>
              </a:ext>
            </a:extLst>
          </p:cNvPr>
          <p:cNvCxnSpPr>
            <a:cxnSpLocks/>
            <a:stCxn id="8" idx="3"/>
            <a:endCxn id="5" idx="1"/>
          </p:cNvCxnSpPr>
          <p:nvPr/>
        </p:nvCxnSpPr>
        <p:spPr>
          <a:xfrm>
            <a:off x="985688" y="1918917"/>
            <a:ext cx="713783" cy="1615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4F5668D2-6336-6D93-880A-F6FB3CC06BEC}"/>
              </a:ext>
            </a:extLst>
          </p:cNvPr>
          <p:cNvCxnSpPr>
            <a:cxnSpLocks/>
            <a:stCxn id="9" idx="3"/>
            <a:endCxn id="5" idx="1"/>
          </p:cNvCxnSpPr>
          <p:nvPr/>
        </p:nvCxnSpPr>
        <p:spPr>
          <a:xfrm flipV="1">
            <a:off x="985688" y="2080506"/>
            <a:ext cx="713783" cy="913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FD4BBB2A-5009-B78A-A8E9-50E2B0E7C57C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985688" y="2080506"/>
            <a:ext cx="713783" cy="3442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82EC9209-27C0-7067-9884-E2C953984E72}"/>
              </a:ext>
            </a:extLst>
          </p:cNvPr>
          <p:cNvSpPr/>
          <p:nvPr/>
        </p:nvSpPr>
        <p:spPr>
          <a:xfrm>
            <a:off x="1699471" y="2892575"/>
            <a:ext cx="1287605" cy="9120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Sort4_2</a:t>
            </a:r>
            <a:endParaRPr lang="zh-TW" altLang="en-US" dirty="0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94EC232-31EA-928F-7371-B501B6554633}"/>
              </a:ext>
            </a:extLst>
          </p:cNvPr>
          <p:cNvSpPr/>
          <p:nvPr/>
        </p:nvSpPr>
        <p:spPr>
          <a:xfrm>
            <a:off x="395536" y="2826790"/>
            <a:ext cx="590152" cy="2146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x4</a:t>
            </a:r>
            <a:endParaRPr lang="zh-TW" altLang="en-US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3D6D530-3F88-9215-DB0D-6B05077CD3F4}"/>
              </a:ext>
            </a:extLst>
          </p:cNvPr>
          <p:cNvSpPr/>
          <p:nvPr/>
        </p:nvSpPr>
        <p:spPr>
          <a:xfrm>
            <a:off x="395536" y="3079712"/>
            <a:ext cx="590152" cy="2146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x5</a:t>
            </a:r>
            <a:endParaRPr lang="zh-TW" altLang="en-US" dirty="0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00DE70F8-8010-134A-0E19-1DE0A106EEDD}"/>
              </a:ext>
            </a:extLst>
          </p:cNvPr>
          <p:cNvSpPr/>
          <p:nvPr/>
        </p:nvSpPr>
        <p:spPr>
          <a:xfrm>
            <a:off x="395536" y="3332635"/>
            <a:ext cx="590152" cy="2146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x6</a:t>
            </a:r>
            <a:endParaRPr lang="zh-TW" altLang="en-US" dirty="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4714EB2-B45E-55D2-D8B8-8F664EDE2A63}"/>
              </a:ext>
            </a:extLst>
          </p:cNvPr>
          <p:cNvSpPr/>
          <p:nvPr/>
        </p:nvSpPr>
        <p:spPr>
          <a:xfrm>
            <a:off x="395536" y="3585557"/>
            <a:ext cx="590152" cy="2146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x7</a:t>
            </a:r>
            <a:endParaRPr lang="zh-TW" altLang="en-US" dirty="0"/>
          </a:p>
        </p:txBody>
      </p:sp>
      <p:cxnSp>
        <p:nvCxnSpPr>
          <p:cNvPr id="53" name="直線接點 52">
            <a:extLst>
              <a:ext uri="{FF2B5EF4-FFF2-40B4-BE49-F238E27FC236}">
                <a16:creationId xmlns:a16="http://schemas.microsoft.com/office/drawing/2014/main" id="{C2036654-8CD6-CB94-9241-66C1F1F9A07F}"/>
              </a:ext>
            </a:extLst>
          </p:cNvPr>
          <p:cNvCxnSpPr>
            <a:stCxn id="49" idx="3"/>
            <a:endCxn id="48" idx="1"/>
          </p:cNvCxnSpPr>
          <p:nvPr/>
        </p:nvCxnSpPr>
        <p:spPr>
          <a:xfrm>
            <a:off x="985688" y="2934090"/>
            <a:ext cx="713783" cy="4145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線接點 53">
            <a:extLst>
              <a:ext uri="{FF2B5EF4-FFF2-40B4-BE49-F238E27FC236}">
                <a16:creationId xmlns:a16="http://schemas.microsoft.com/office/drawing/2014/main" id="{984C7CFE-4301-D9B2-347C-82ACB22D052B}"/>
              </a:ext>
            </a:extLst>
          </p:cNvPr>
          <p:cNvCxnSpPr>
            <a:cxnSpLocks/>
            <a:stCxn id="50" idx="3"/>
            <a:endCxn id="48" idx="1"/>
          </p:cNvCxnSpPr>
          <p:nvPr/>
        </p:nvCxnSpPr>
        <p:spPr>
          <a:xfrm>
            <a:off x="985688" y="3187013"/>
            <a:ext cx="713783" cy="1615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線接點 54">
            <a:extLst>
              <a:ext uri="{FF2B5EF4-FFF2-40B4-BE49-F238E27FC236}">
                <a16:creationId xmlns:a16="http://schemas.microsoft.com/office/drawing/2014/main" id="{8D64FBFE-B30E-1432-4240-6667260FAEEB}"/>
              </a:ext>
            </a:extLst>
          </p:cNvPr>
          <p:cNvCxnSpPr>
            <a:cxnSpLocks/>
            <a:stCxn id="51" idx="3"/>
            <a:endCxn id="48" idx="1"/>
          </p:cNvCxnSpPr>
          <p:nvPr/>
        </p:nvCxnSpPr>
        <p:spPr>
          <a:xfrm flipV="1">
            <a:off x="985688" y="3348602"/>
            <a:ext cx="713783" cy="913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D76AA903-9A51-B3DA-3087-7BB812D13C14}"/>
              </a:ext>
            </a:extLst>
          </p:cNvPr>
          <p:cNvCxnSpPr>
            <a:cxnSpLocks/>
            <a:stCxn id="52" idx="3"/>
            <a:endCxn id="48" idx="1"/>
          </p:cNvCxnSpPr>
          <p:nvPr/>
        </p:nvCxnSpPr>
        <p:spPr>
          <a:xfrm flipV="1">
            <a:off x="985688" y="3348602"/>
            <a:ext cx="713783" cy="3442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矩形 60">
            <a:extLst>
              <a:ext uri="{FF2B5EF4-FFF2-40B4-BE49-F238E27FC236}">
                <a16:creationId xmlns:a16="http://schemas.microsoft.com/office/drawing/2014/main" id="{B78C1D0C-3952-CC5A-3252-C812A8BE4FE5}"/>
              </a:ext>
            </a:extLst>
          </p:cNvPr>
          <p:cNvSpPr/>
          <p:nvPr/>
        </p:nvSpPr>
        <p:spPr>
          <a:xfrm>
            <a:off x="3405784" y="1556792"/>
            <a:ext cx="590152" cy="2146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L1</a:t>
            </a:r>
            <a:endParaRPr lang="zh-TW" altLang="en-US" dirty="0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FC4FF2C2-52BE-DED3-1933-A3BCADD33E59}"/>
              </a:ext>
            </a:extLst>
          </p:cNvPr>
          <p:cNvSpPr/>
          <p:nvPr/>
        </p:nvSpPr>
        <p:spPr>
          <a:xfrm>
            <a:off x="3405784" y="1809714"/>
            <a:ext cx="590152" cy="2146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L2</a:t>
            </a:r>
            <a:endParaRPr lang="zh-TW" altLang="en-US" dirty="0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7C5729E7-4261-24EF-487C-E72222C1F80F}"/>
              </a:ext>
            </a:extLst>
          </p:cNvPr>
          <p:cNvSpPr/>
          <p:nvPr/>
        </p:nvSpPr>
        <p:spPr>
          <a:xfrm>
            <a:off x="3405784" y="2062636"/>
            <a:ext cx="590152" cy="2146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W1</a:t>
            </a:r>
            <a:endParaRPr lang="zh-TW" altLang="en-US" dirty="0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277BF1ED-6FF8-F7E4-2AF6-4E02953196B7}"/>
              </a:ext>
            </a:extLst>
          </p:cNvPr>
          <p:cNvSpPr/>
          <p:nvPr/>
        </p:nvSpPr>
        <p:spPr>
          <a:xfrm>
            <a:off x="3405784" y="2315559"/>
            <a:ext cx="590152" cy="2146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W2</a:t>
            </a:r>
            <a:endParaRPr lang="zh-TW" altLang="en-US" dirty="0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882EE060-D22D-5EE5-298E-61504120F91A}"/>
              </a:ext>
            </a:extLst>
          </p:cNvPr>
          <p:cNvSpPr/>
          <p:nvPr/>
        </p:nvSpPr>
        <p:spPr>
          <a:xfrm>
            <a:off x="3399948" y="2865111"/>
            <a:ext cx="590152" cy="2146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L3</a:t>
            </a:r>
            <a:endParaRPr lang="zh-TW" altLang="en-US" dirty="0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34C42041-F1F5-E722-2B50-E00C4830D2DB}"/>
              </a:ext>
            </a:extLst>
          </p:cNvPr>
          <p:cNvSpPr/>
          <p:nvPr/>
        </p:nvSpPr>
        <p:spPr>
          <a:xfrm>
            <a:off x="3399948" y="3118034"/>
            <a:ext cx="590152" cy="2146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L4</a:t>
            </a:r>
            <a:endParaRPr lang="zh-TW" altLang="en-US" dirty="0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402BF2E9-BF8D-F614-B009-8FB4839FFDE3}"/>
              </a:ext>
            </a:extLst>
          </p:cNvPr>
          <p:cNvSpPr/>
          <p:nvPr/>
        </p:nvSpPr>
        <p:spPr>
          <a:xfrm>
            <a:off x="3399948" y="3370956"/>
            <a:ext cx="590152" cy="2146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W3</a:t>
            </a:r>
            <a:endParaRPr lang="zh-TW" altLang="en-US" dirty="0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7E978C79-8DA0-CBD4-EC75-D45A49F40E0B}"/>
              </a:ext>
            </a:extLst>
          </p:cNvPr>
          <p:cNvSpPr/>
          <p:nvPr/>
        </p:nvSpPr>
        <p:spPr>
          <a:xfrm>
            <a:off x="3399948" y="3623878"/>
            <a:ext cx="590152" cy="2146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W4</a:t>
            </a:r>
            <a:endParaRPr lang="zh-TW" altLang="en-US" dirty="0"/>
          </a:p>
        </p:txBody>
      </p:sp>
      <p:cxnSp>
        <p:nvCxnSpPr>
          <p:cNvPr id="69" name="直線接點 68">
            <a:extLst>
              <a:ext uri="{FF2B5EF4-FFF2-40B4-BE49-F238E27FC236}">
                <a16:creationId xmlns:a16="http://schemas.microsoft.com/office/drawing/2014/main" id="{6B1C3B09-E0FC-D235-75A9-314BEA4DD25A}"/>
              </a:ext>
            </a:extLst>
          </p:cNvPr>
          <p:cNvCxnSpPr>
            <a:cxnSpLocks/>
            <a:stCxn id="5" idx="3"/>
            <a:endCxn id="61" idx="1"/>
          </p:cNvCxnSpPr>
          <p:nvPr/>
        </p:nvCxnSpPr>
        <p:spPr>
          <a:xfrm flipV="1">
            <a:off x="2987077" y="1664092"/>
            <a:ext cx="418707" cy="4164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直線接點 71">
            <a:extLst>
              <a:ext uri="{FF2B5EF4-FFF2-40B4-BE49-F238E27FC236}">
                <a16:creationId xmlns:a16="http://schemas.microsoft.com/office/drawing/2014/main" id="{A2D7D15E-A962-3112-A0AC-C22D26D90C80}"/>
              </a:ext>
            </a:extLst>
          </p:cNvPr>
          <p:cNvCxnSpPr>
            <a:cxnSpLocks/>
            <a:stCxn id="5" idx="3"/>
            <a:endCxn id="62" idx="1"/>
          </p:cNvCxnSpPr>
          <p:nvPr/>
        </p:nvCxnSpPr>
        <p:spPr>
          <a:xfrm flipV="1">
            <a:off x="2987077" y="1917015"/>
            <a:ext cx="418707" cy="1634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直線接點 75">
            <a:extLst>
              <a:ext uri="{FF2B5EF4-FFF2-40B4-BE49-F238E27FC236}">
                <a16:creationId xmlns:a16="http://schemas.microsoft.com/office/drawing/2014/main" id="{13E3A57A-BF97-D607-BF0A-BAF601C5D247}"/>
              </a:ext>
            </a:extLst>
          </p:cNvPr>
          <p:cNvCxnSpPr>
            <a:cxnSpLocks/>
            <a:stCxn id="5" idx="3"/>
            <a:endCxn id="63" idx="1"/>
          </p:cNvCxnSpPr>
          <p:nvPr/>
        </p:nvCxnSpPr>
        <p:spPr>
          <a:xfrm>
            <a:off x="2987077" y="2080506"/>
            <a:ext cx="418707" cy="894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9E1E20A2-8A87-958B-FF4C-D32A487CE90F}"/>
              </a:ext>
            </a:extLst>
          </p:cNvPr>
          <p:cNvCxnSpPr>
            <a:cxnSpLocks/>
            <a:stCxn id="5" idx="3"/>
            <a:endCxn id="64" idx="1"/>
          </p:cNvCxnSpPr>
          <p:nvPr/>
        </p:nvCxnSpPr>
        <p:spPr>
          <a:xfrm>
            <a:off x="2987077" y="2080506"/>
            <a:ext cx="418707" cy="3423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直線接點 85">
            <a:extLst>
              <a:ext uri="{FF2B5EF4-FFF2-40B4-BE49-F238E27FC236}">
                <a16:creationId xmlns:a16="http://schemas.microsoft.com/office/drawing/2014/main" id="{66A4BB0D-4824-CFDE-BC9D-923426CA011E}"/>
              </a:ext>
            </a:extLst>
          </p:cNvPr>
          <p:cNvCxnSpPr>
            <a:cxnSpLocks/>
            <a:stCxn id="48" idx="3"/>
            <a:endCxn id="65" idx="1"/>
          </p:cNvCxnSpPr>
          <p:nvPr/>
        </p:nvCxnSpPr>
        <p:spPr>
          <a:xfrm flipV="1">
            <a:off x="2987077" y="2972412"/>
            <a:ext cx="412872" cy="3761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直線接點 86">
            <a:extLst>
              <a:ext uri="{FF2B5EF4-FFF2-40B4-BE49-F238E27FC236}">
                <a16:creationId xmlns:a16="http://schemas.microsoft.com/office/drawing/2014/main" id="{678EB073-A7E3-DFD6-4164-5EDF35134D55}"/>
              </a:ext>
            </a:extLst>
          </p:cNvPr>
          <p:cNvCxnSpPr>
            <a:cxnSpLocks/>
            <a:stCxn id="48" idx="3"/>
            <a:endCxn id="66" idx="1"/>
          </p:cNvCxnSpPr>
          <p:nvPr/>
        </p:nvCxnSpPr>
        <p:spPr>
          <a:xfrm flipV="1">
            <a:off x="2987077" y="3225334"/>
            <a:ext cx="412872" cy="1232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直線接點 87">
            <a:extLst>
              <a:ext uri="{FF2B5EF4-FFF2-40B4-BE49-F238E27FC236}">
                <a16:creationId xmlns:a16="http://schemas.microsoft.com/office/drawing/2014/main" id="{1CF4307B-BD7A-EB3D-EC22-92BD64578A94}"/>
              </a:ext>
            </a:extLst>
          </p:cNvPr>
          <p:cNvCxnSpPr>
            <a:cxnSpLocks/>
            <a:stCxn id="48" idx="3"/>
            <a:endCxn id="67" idx="1"/>
          </p:cNvCxnSpPr>
          <p:nvPr/>
        </p:nvCxnSpPr>
        <p:spPr>
          <a:xfrm>
            <a:off x="2987077" y="3348602"/>
            <a:ext cx="412872" cy="1296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直線接點 88">
            <a:extLst>
              <a:ext uri="{FF2B5EF4-FFF2-40B4-BE49-F238E27FC236}">
                <a16:creationId xmlns:a16="http://schemas.microsoft.com/office/drawing/2014/main" id="{FB37B122-229A-9D43-D9DF-70D83452053F}"/>
              </a:ext>
            </a:extLst>
          </p:cNvPr>
          <p:cNvCxnSpPr>
            <a:cxnSpLocks/>
            <a:stCxn id="48" idx="3"/>
            <a:endCxn id="68" idx="1"/>
          </p:cNvCxnSpPr>
          <p:nvPr/>
        </p:nvCxnSpPr>
        <p:spPr>
          <a:xfrm>
            <a:off x="2987077" y="3348602"/>
            <a:ext cx="412872" cy="3825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9" name="矩形 118">
            <a:extLst>
              <a:ext uri="{FF2B5EF4-FFF2-40B4-BE49-F238E27FC236}">
                <a16:creationId xmlns:a16="http://schemas.microsoft.com/office/drawing/2014/main" id="{28E315B5-7836-703F-E43B-D3653F9CBBA8}"/>
              </a:ext>
            </a:extLst>
          </p:cNvPr>
          <p:cNvSpPr/>
          <p:nvPr/>
        </p:nvSpPr>
        <p:spPr>
          <a:xfrm>
            <a:off x="4572000" y="1624479"/>
            <a:ext cx="1287605" cy="9120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Sort4_3</a:t>
            </a:r>
            <a:endParaRPr lang="zh-TW" altLang="en-US" dirty="0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FF6C2CF4-F337-0CF6-42D4-341D37C043BD}"/>
              </a:ext>
            </a:extLst>
          </p:cNvPr>
          <p:cNvSpPr/>
          <p:nvPr/>
        </p:nvSpPr>
        <p:spPr>
          <a:xfrm>
            <a:off x="4571999" y="2892575"/>
            <a:ext cx="1287605" cy="9120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Sort4_4</a:t>
            </a:r>
            <a:endParaRPr lang="zh-TW" altLang="en-US" dirty="0"/>
          </a:p>
        </p:txBody>
      </p: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F1E8EFF5-1DC8-E35F-A78E-C078905CED34}"/>
              </a:ext>
            </a:extLst>
          </p:cNvPr>
          <p:cNvCxnSpPr>
            <a:cxnSpLocks/>
            <a:stCxn id="61" idx="3"/>
            <a:endCxn id="119" idx="1"/>
          </p:cNvCxnSpPr>
          <p:nvPr/>
        </p:nvCxnSpPr>
        <p:spPr>
          <a:xfrm>
            <a:off x="3995936" y="1664093"/>
            <a:ext cx="576064" cy="4164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F0E245DA-2B69-9DC9-FB89-B9CA4C5D250F}"/>
              </a:ext>
            </a:extLst>
          </p:cNvPr>
          <p:cNvCxnSpPr>
            <a:cxnSpLocks/>
            <a:stCxn id="62" idx="3"/>
            <a:endCxn id="119" idx="1"/>
          </p:cNvCxnSpPr>
          <p:nvPr/>
        </p:nvCxnSpPr>
        <p:spPr>
          <a:xfrm>
            <a:off x="3995936" y="1917015"/>
            <a:ext cx="576064" cy="1634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直線接點 134">
            <a:extLst>
              <a:ext uri="{FF2B5EF4-FFF2-40B4-BE49-F238E27FC236}">
                <a16:creationId xmlns:a16="http://schemas.microsoft.com/office/drawing/2014/main" id="{A311E453-C8EB-36E8-2555-F46364F7AFF4}"/>
              </a:ext>
            </a:extLst>
          </p:cNvPr>
          <p:cNvCxnSpPr>
            <a:cxnSpLocks/>
            <a:stCxn id="63" idx="3"/>
            <a:endCxn id="128" idx="1"/>
          </p:cNvCxnSpPr>
          <p:nvPr/>
        </p:nvCxnSpPr>
        <p:spPr>
          <a:xfrm>
            <a:off x="3995936" y="2169937"/>
            <a:ext cx="576063" cy="117866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8" name="直線接點 137">
            <a:extLst>
              <a:ext uri="{FF2B5EF4-FFF2-40B4-BE49-F238E27FC236}">
                <a16:creationId xmlns:a16="http://schemas.microsoft.com/office/drawing/2014/main" id="{14D631A5-17FF-9F98-59A4-B17C36A470C5}"/>
              </a:ext>
            </a:extLst>
          </p:cNvPr>
          <p:cNvCxnSpPr>
            <a:cxnSpLocks/>
            <a:stCxn id="64" idx="3"/>
            <a:endCxn id="128" idx="1"/>
          </p:cNvCxnSpPr>
          <p:nvPr/>
        </p:nvCxnSpPr>
        <p:spPr>
          <a:xfrm>
            <a:off x="3995936" y="2422860"/>
            <a:ext cx="576063" cy="925742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7D6AA19F-DDD0-7E99-E701-A86A33BB6ABE}"/>
              </a:ext>
            </a:extLst>
          </p:cNvPr>
          <p:cNvCxnSpPr>
            <a:cxnSpLocks/>
            <a:stCxn id="65" idx="3"/>
            <a:endCxn id="119" idx="1"/>
          </p:cNvCxnSpPr>
          <p:nvPr/>
        </p:nvCxnSpPr>
        <p:spPr>
          <a:xfrm flipV="1">
            <a:off x="3990100" y="2080506"/>
            <a:ext cx="581900" cy="8919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2CB131BA-DDC1-5629-850E-47F1A1928B35}"/>
              </a:ext>
            </a:extLst>
          </p:cNvPr>
          <p:cNvCxnSpPr>
            <a:cxnSpLocks/>
            <a:stCxn id="66" idx="3"/>
            <a:endCxn id="119" idx="1"/>
          </p:cNvCxnSpPr>
          <p:nvPr/>
        </p:nvCxnSpPr>
        <p:spPr>
          <a:xfrm flipV="1">
            <a:off x="3990100" y="2080506"/>
            <a:ext cx="581900" cy="11448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7C4B17E5-8179-D281-9CE0-9B21E16B88BC}"/>
              </a:ext>
            </a:extLst>
          </p:cNvPr>
          <p:cNvCxnSpPr>
            <a:cxnSpLocks/>
            <a:stCxn id="67" idx="3"/>
            <a:endCxn id="128" idx="1"/>
          </p:cNvCxnSpPr>
          <p:nvPr/>
        </p:nvCxnSpPr>
        <p:spPr>
          <a:xfrm flipV="1">
            <a:off x="3990100" y="3348602"/>
            <a:ext cx="581899" cy="12965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0" name="直線接點 149">
            <a:extLst>
              <a:ext uri="{FF2B5EF4-FFF2-40B4-BE49-F238E27FC236}">
                <a16:creationId xmlns:a16="http://schemas.microsoft.com/office/drawing/2014/main" id="{41242E65-6ACE-DF80-D673-B15B1D0C34AB}"/>
              </a:ext>
            </a:extLst>
          </p:cNvPr>
          <p:cNvCxnSpPr>
            <a:cxnSpLocks/>
            <a:stCxn id="68" idx="3"/>
            <a:endCxn id="128" idx="1"/>
          </p:cNvCxnSpPr>
          <p:nvPr/>
        </p:nvCxnSpPr>
        <p:spPr>
          <a:xfrm flipV="1">
            <a:off x="3990100" y="3348602"/>
            <a:ext cx="581899" cy="382577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1" name="矩形 160">
            <a:extLst>
              <a:ext uri="{FF2B5EF4-FFF2-40B4-BE49-F238E27FC236}">
                <a16:creationId xmlns:a16="http://schemas.microsoft.com/office/drawing/2014/main" id="{6B2F41FA-D9C0-9C8F-EC40-ECF36E1BF60E}"/>
              </a:ext>
            </a:extLst>
          </p:cNvPr>
          <p:cNvSpPr/>
          <p:nvPr/>
        </p:nvSpPr>
        <p:spPr>
          <a:xfrm>
            <a:off x="6375012" y="1595113"/>
            <a:ext cx="590152" cy="21460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y0</a:t>
            </a:r>
            <a:endParaRPr lang="zh-TW" altLang="en-US" dirty="0"/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F652B91E-A047-122B-9D60-07022AAB5CE4}"/>
              </a:ext>
            </a:extLst>
          </p:cNvPr>
          <p:cNvSpPr/>
          <p:nvPr/>
        </p:nvSpPr>
        <p:spPr>
          <a:xfrm>
            <a:off x="6375012" y="1848035"/>
            <a:ext cx="590152" cy="21460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y1</a:t>
            </a:r>
            <a:endParaRPr lang="zh-TW" altLang="en-US" dirty="0"/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80587FB5-732D-707F-BEF1-6837AD2B077B}"/>
              </a:ext>
            </a:extLst>
          </p:cNvPr>
          <p:cNvSpPr/>
          <p:nvPr/>
        </p:nvSpPr>
        <p:spPr>
          <a:xfrm>
            <a:off x="6375012" y="2100958"/>
            <a:ext cx="590152" cy="2146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s1</a:t>
            </a:r>
            <a:endParaRPr lang="zh-TW" altLang="en-US" dirty="0"/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99D68518-AC15-3538-6F10-EF203562666D}"/>
              </a:ext>
            </a:extLst>
          </p:cNvPr>
          <p:cNvSpPr/>
          <p:nvPr/>
        </p:nvSpPr>
        <p:spPr>
          <a:xfrm>
            <a:off x="6375012" y="2353880"/>
            <a:ext cx="590152" cy="2146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s2</a:t>
            </a:r>
            <a:endParaRPr lang="zh-TW" altLang="en-US" dirty="0"/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8E120B2C-A683-A8DC-FECE-755E047BD22D}"/>
              </a:ext>
            </a:extLst>
          </p:cNvPr>
          <p:cNvSpPr/>
          <p:nvPr/>
        </p:nvSpPr>
        <p:spPr>
          <a:xfrm>
            <a:off x="6375012" y="2863209"/>
            <a:ext cx="590152" cy="2146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s3</a:t>
            </a:r>
            <a:endParaRPr lang="zh-TW" altLang="en-US" dirty="0"/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C5D14118-3361-3CE3-720D-E2C968F5FEAE}"/>
              </a:ext>
            </a:extLst>
          </p:cNvPr>
          <p:cNvSpPr/>
          <p:nvPr/>
        </p:nvSpPr>
        <p:spPr>
          <a:xfrm>
            <a:off x="6375012" y="3116131"/>
            <a:ext cx="590152" cy="2146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s4</a:t>
            </a:r>
            <a:endParaRPr lang="zh-TW" altLang="en-US" dirty="0"/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88BF2727-CD33-DD54-9C55-30ED7DFB4163}"/>
              </a:ext>
            </a:extLst>
          </p:cNvPr>
          <p:cNvSpPr/>
          <p:nvPr/>
        </p:nvSpPr>
        <p:spPr>
          <a:xfrm>
            <a:off x="6375012" y="3369054"/>
            <a:ext cx="590152" cy="21460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y6</a:t>
            </a:r>
            <a:endParaRPr lang="zh-TW" altLang="en-US" dirty="0"/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E92FCB58-8A5C-8348-7EC9-6A2675D4F794}"/>
              </a:ext>
            </a:extLst>
          </p:cNvPr>
          <p:cNvSpPr/>
          <p:nvPr/>
        </p:nvSpPr>
        <p:spPr>
          <a:xfrm>
            <a:off x="6375012" y="3621976"/>
            <a:ext cx="590152" cy="21460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y7</a:t>
            </a:r>
            <a:endParaRPr lang="zh-TW" altLang="en-US" dirty="0"/>
          </a:p>
        </p:txBody>
      </p:sp>
      <p:cxnSp>
        <p:nvCxnSpPr>
          <p:cNvPr id="169" name="直線接點 168">
            <a:extLst>
              <a:ext uri="{FF2B5EF4-FFF2-40B4-BE49-F238E27FC236}">
                <a16:creationId xmlns:a16="http://schemas.microsoft.com/office/drawing/2014/main" id="{9B860C57-5C8E-5E4C-8979-F7EA9799678F}"/>
              </a:ext>
            </a:extLst>
          </p:cNvPr>
          <p:cNvCxnSpPr>
            <a:cxnSpLocks/>
            <a:stCxn id="119" idx="3"/>
            <a:endCxn id="161" idx="1"/>
          </p:cNvCxnSpPr>
          <p:nvPr/>
        </p:nvCxnSpPr>
        <p:spPr>
          <a:xfrm flipV="1">
            <a:off x="5859605" y="1702414"/>
            <a:ext cx="515407" cy="3780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3" name="直線接點 172">
            <a:extLst>
              <a:ext uri="{FF2B5EF4-FFF2-40B4-BE49-F238E27FC236}">
                <a16:creationId xmlns:a16="http://schemas.microsoft.com/office/drawing/2014/main" id="{EA73E7D8-38A3-6480-C84C-BC8A345D69E6}"/>
              </a:ext>
            </a:extLst>
          </p:cNvPr>
          <p:cNvCxnSpPr>
            <a:cxnSpLocks/>
            <a:stCxn id="128" idx="3"/>
            <a:endCxn id="168" idx="1"/>
          </p:cNvCxnSpPr>
          <p:nvPr/>
        </p:nvCxnSpPr>
        <p:spPr>
          <a:xfrm>
            <a:off x="5859604" y="3348602"/>
            <a:ext cx="515408" cy="38067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6" name="直線接點 185">
            <a:extLst>
              <a:ext uri="{FF2B5EF4-FFF2-40B4-BE49-F238E27FC236}">
                <a16:creationId xmlns:a16="http://schemas.microsoft.com/office/drawing/2014/main" id="{9C29ED29-8B56-1827-CCF9-6DB14F0B1325}"/>
              </a:ext>
            </a:extLst>
          </p:cNvPr>
          <p:cNvCxnSpPr>
            <a:cxnSpLocks/>
            <a:stCxn id="119" idx="3"/>
            <a:endCxn id="162" idx="1"/>
          </p:cNvCxnSpPr>
          <p:nvPr/>
        </p:nvCxnSpPr>
        <p:spPr>
          <a:xfrm flipV="1">
            <a:off x="5859605" y="1955336"/>
            <a:ext cx="515407" cy="12517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9" name="直線接點 188">
            <a:extLst>
              <a:ext uri="{FF2B5EF4-FFF2-40B4-BE49-F238E27FC236}">
                <a16:creationId xmlns:a16="http://schemas.microsoft.com/office/drawing/2014/main" id="{94B629CE-A613-7E86-0F22-BBA7B7985C59}"/>
              </a:ext>
            </a:extLst>
          </p:cNvPr>
          <p:cNvCxnSpPr>
            <a:cxnSpLocks/>
            <a:stCxn id="119" idx="3"/>
            <a:endCxn id="163" idx="1"/>
          </p:cNvCxnSpPr>
          <p:nvPr/>
        </p:nvCxnSpPr>
        <p:spPr>
          <a:xfrm>
            <a:off x="5859605" y="2080506"/>
            <a:ext cx="515407" cy="1277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2" name="直線接點 191">
            <a:extLst>
              <a:ext uri="{FF2B5EF4-FFF2-40B4-BE49-F238E27FC236}">
                <a16:creationId xmlns:a16="http://schemas.microsoft.com/office/drawing/2014/main" id="{8624FAEA-BF4C-F84B-BF26-F9AC0912C90A}"/>
              </a:ext>
            </a:extLst>
          </p:cNvPr>
          <p:cNvCxnSpPr>
            <a:cxnSpLocks/>
            <a:stCxn id="119" idx="3"/>
            <a:endCxn id="164" idx="1"/>
          </p:cNvCxnSpPr>
          <p:nvPr/>
        </p:nvCxnSpPr>
        <p:spPr>
          <a:xfrm>
            <a:off x="5859605" y="2080506"/>
            <a:ext cx="515407" cy="3806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5" name="直線接點 194">
            <a:extLst>
              <a:ext uri="{FF2B5EF4-FFF2-40B4-BE49-F238E27FC236}">
                <a16:creationId xmlns:a16="http://schemas.microsoft.com/office/drawing/2014/main" id="{760FD47E-90A7-5750-7044-3EF3270A58F0}"/>
              </a:ext>
            </a:extLst>
          </p:cNvPr>
          <p:cNvCxnSpPr>
            <a:cxnSpLocks/>
            <a:stCxn id="128" idx="3"/>
            <a:endCxn id="165" idx="1"/>
          </p:cNvCxnSpPr>
          <p:nvPr/>
        </p:nvCxnSpPr>
        <p:spPr>
          <a:xfrm flipV="1">
            <a:off x="5859604" y="2970510"/>
            <a:ext cx="515408" cy="3780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直線接點 197">
            <a:extLst>
              <a:ext uri="{FF2B5EF4-FFF2-40B4-BE49-F238E27FC236}">
                <a16:creationId xmlns:a16="http://schemas.microsoft.com/office/drawing/2014/main" id="{A8A21A86-D892-35F8-F204-565014EFB0E7}"/>
              </a:ext>
            </a:extLst>
          </p:cNvPr>
          <p:cNvCxnSpPr>
            <a:cxnSpLocks/>
            <a:stCxn id="128" idx="3"/>
            <a:endCxn id="166" idx="1"/>
          </p:cNvCxnSpPr>
          <p:nvPr/>
        </p:nvCxnSpPr>
        <p:spPr>
          <a:xfrm flipV="1">
            <a:off x="5859604" y="3223432"/>
            <a:ext cx="515408" cy="12517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1" name="直線接點 200">
            <a:extLst>
              <a:ext uri="{FF2B5EF4-FFF2-40B4-BE49-F238E27FC236}">
                <a16:creationId xmlns:a16="http://schemas.microsoft.com/office/drawing/2014/main" id="{7EDC2BCC-1BA3-ABCF-109F-3CC4C1B238C1}"/>
              </a:ext>
            </a:extLst>
          </p:cNvPr>
          <p:cNvCxnSpPr>
            <a:cxnSpLocks/>
            <a:stCxn id="128" idx="3"/>
            <a:endCxn id="167" idx="1"/>
          </p:cNvCxnSpPr>
          <p:nvPr/>
        </p:nvCxnSpPr>
        <p:spPr>
          <a:xfrm>
            <a:off x="5859604" y="3348602"/>
            <a:ext cx="515408" cy="12775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0" name="矩形 219">
            <a:extLst>
              <a:ext uri="{FF2B5EF4-FFF2-40B4-BE49-F238E27FC236}">
                <a16:creationId xmlns:a16="http://schemas.microsoft.com/office/drawing/2014/main" id="{9C31C4D9-1D23-3543-2F9F-D07796B37E4D}"/>
              </a:ext>
            </a:extLst>
          </p:cNvPr>
          <p:cNvSpPr/>
          <p:nvPr/>
        </p:nvSpPr>
        <p:spPr>
          <a:xfrm>
            <a:off x="7576412" y="2133341"/>
            <a:ext cx="1287605" cy="9120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Sort4_5</a:t>
            </a:r>
            <a:endParaRPr lang="zh-TW" altLang="en-US" dirty="0"/>
          </a:p>
        </p:txBody>
      </p:sp>
      <p:cxnSp>
        <p:nvCxnSpPr>
          <p:cNvPr id="221" name="直線接點 220">
            <a:extLst>
              <a:ext uri="{FF2B5EF4-FFF2-40B4-BE49-F238E27FC236}">
                <a16:creationId xmlns:a16="http://schemas.microsoft.com/office/drawing/2014/main" id="{DF21B5C4-007C-6B32-50F5-F6F6EBB5BD3C}"/>
              </a:ext>
            </a:extLst>
          </p:cNvPr>
          <p:cNvCxnSpPr>
            <a:cxnSpLocks/>
            <a:stCxn id="166" idx="3"/>
            <a:endCxn id="220" idx="1"/>
          </p:cNvCxnSpPr>
          <p:nvPr/>
        </p:nvCxnSpPr>
        <p:spPr>
          <a:xfrm flipV="1">
            <a:off x="6965164" y="2589368"/>
            <a:ext cx="611248" cy="6340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4" name="直線接點 223">
            <a:extLst>
              <a:ext uri="{FF2B5EF4-FFF2-40B4-BE49-F238E27FC236}">
                <a16:creationId xmlns:a16="http://schemas.microsoft.com/office/drawing/2014/main" id="{DF23DA6A-D416-ECA5-F8C2-6658C7258CB3}"/>
              </a:ext>
            </a:extLst>
          </p:cNvPr>
          <p:cNvCxnSpPr>
            <a:cxnSpLocks/>
            <a:stCxn id="163" idx="3"/>
            <a:endCxn id="220" idx="1"/>
          </p:cNvCxnSpPr>
          <p:nvPr/>
        </p:nvCxnSpPr>
        <p:spPr>
          <a:xfrm>
            <a:off x="6965164" y="2208259"/>
            <a:ext cx="611248" cy="3811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8" name="直線接點 227">
            <a:extLst>
              <a:ext uri="{FF2B5EF4-FFF2-40B4-BE49-F238E27FC236}">
                <a16:creationId xmlns:a16="http://schemas.microsoft.com/office/drawing/2014/main" id="{58B8F9D5-4186-348F-FD0E-42F18E7068DF}"/>
              </a:ext>
            </a:extLst>
          </p:cNvPr>
          <p:cNvCxnSpPr>
            <a:cxnSpLocks/>
            <a:stCxn id="164" idx="3"/>
            <a:endCxn id="220" idx="1"/>
          </p:cNvCxnSpPr>
          <p:nvPr/>
        </p:nvCxnSpPr>
        <p:spPr>
          <a:xfrm>
            <a:off x="6965164" y="2461181"/>
            <a:ext cx="611248" cy="1281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1" name="直線接點 230">
            <a:extLst>
              <a:ext uri="{FF2B5EF4-FFF2-40B4-BE49-F238E27FC236}">
                <a16:creationId xmlns:a16="http://schemas.microsoft.com/office/drawing/2014/main" id="{D5D133E0-F914-14FC-0E3C-EB9AC653AA9C}"/>
              </a:ext>
            </a:extLst>
          </p:cNvPr>
          <p:cNvCxnSpPr>
            <a:cxnSpLocks/>
            <a:stCxn id="165" idx="3"/>
            <a:endCxn id="220" idx="1"/>
          </p:cNvCxnSpPr>
          <p:nvPr/>
        </p:nvCxnSpPr>
        <p:spPr>
          <a:xfrm flipV="1">
            <a:off x="6965164" y="2589368"/>
            <a:ext cx="611248" cy="3811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E8DA7C96-A7F1-118A-A238-1AC65AEAFBF2}"/>
              </a:ext>
            </a:extLst>
          </p:cNvPr>
          <p:cNvSpPr/>
          <p:nvPr/>
        </p:nvSpPr>
        <p:spPr>
          <a:xfrm>
            <a:off x="179512" y="5211789"/>
            <a:ext cx="1287605" cy="9120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Sort4_5</a:t>
            </a:r>
            <a:endParaRPr lang="zh-TW" altLang="en-US" dirty="0"/>
          </a:p>
        </p:txBody>
      </p:sp>
      <p:cxnSp>
        <p:nvCxnSpPr>
          <p:cNvPr id="226" name="直線接點 225">
            <a:extLst>
              <a:ext uri="{FF2B5EF4-FFF2-40B4-BE49-F238E27FC236}">
                <a16:creationId xmlns:a16="http://schemas.microsoft.com/office/drawing/2014/main" id="{3CEF747C-E4CB-4541-F5BF-95D254C81309}"/>
              </a:ext>
            </a:extLst>
          </p:cNvPr>
          <p:cNvCxnSpPr>
            <a:cxnSpLocks/>
            <a:stCxn id="20" idx="3"/>
            <a:endCxn id="172" idx="1"/>
          </p:cNvCxnSpPr>
          <p:nvPr/>
        </p:nvCxnSpPr>
        <p:spPr>
          <a:xfrm flipV="1">
            <a:off x="1467117" y="5324717"/>
            <a:ext cx="395404" cy="3430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7" name="直線接點 226">
            <a:extLst>
              <a:ext uri="{FF2B5EF4-FFF2-40B4-BE49-F238E27FC236}">
                <a16:creationId xmlns:a16="http://schemas.microsoft.com/office/drawing/2014/main" id="{6F57BEEB-6FC8-253E-422F-58F4D9189BAD}"/>
              </a:ext>
            </a:extLst>
          </p:cNvPr>
          <p:cNvCxnSpPr>
            <a:cxnSpLocks/>
            <a:stCxn id="20" idx="3"/>
            <a:endCxn id="174" idx="1"/>
          </p:cNvCxnSpPr>
          <p:nvPr/>
        </p:nvCxnSpPr>
        <p:spPr>
          <a:xfrm flipV="1">
            <a:off x="1467117" y="5577639"/>
            <a:ext cx="395404" cy="901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9" name="直線接點 228">
            <a:extLst>
              <a:ext uri="{FF2B5EF4-FFF2-40B4-BE49-F238E27FC236}">
                <a16:creationId xmlns:a16="http://schemas.microsoft.com/office/drawing/2014/main" id="{AF605104-D092-91EF-D81A-7A89F8580CFD}"/>
              </a:ext>
            </a:extLst>
          </p:cNvPr>
          <p:cNvCxnSpPr>
            <a:cxnSpLocks/>
            <a:stCxn id="20" idx="3"/>
            <a:endCxn id="175" idx="1"/>
          </p:cNvCxnSpPr>
          <p:nvPr/>
        </p:nvCxnSpPr>
        <p:spPr>
          <a:xfrm>
            <a:off x="1467117" y="5667816"/>
            <a:ext cx="395404" cy="1627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0" name="直線接點 229">
            <a:extLst>
              <a:ext uri="{FF2B5EF4-FFF2-40B4-BE49-F238E27FC236}">
                <a16:creationId xmlns:a16="http://schemas.microsoft.com/office/drawing/2014/main" id="{3FFB9993-6B99-83A3-ED4B-27A4FD52A69E}"/>
              </a:ext>
            </a:extLst>
          </p:cNvPr>
          <p:cNvCxnSpPr>
            <a:cxnSpLocks/>
            <a:stCxn id="20" idx="3"/>
            <a:endCxn id="176" idx="1"/>
          </p:cNvCxnSpPr>
          <p:nvPr/>
        </p:nvCxnSpPr>
        <p:spPr>
          <a:xfrm>
            <a:off x="1467117" y="5667816"/>
            <a:ext cx="395404" cy="4156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2" name="文字方塊 241">
            <a:extLst>
              <a:ext uri="{FF2B5EF4-FFF2-40B4-BE49-F238E27FC236}">
                <a16:creationId xmlns:a16="http://schemas.microsoft.com/office/drawing/2014/main" id="{76ABFCF7-33BC-2D87-CA18-CA9ECE7FFB17}"/>
              </a:ext>
            </a:extLst>
          </p:cNvPr>
          <p:cNvSpPr txBox="1"/>
          <p:nvPr/>
        </p:nvSpPr>
        <p:spPr>
          <a:xfrm>
            <a:off x="4716016" y="5464865"/>
            <a:ext cx="3593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Sort4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會將數字從上到下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由小排到大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</a:p>
          <a:p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將輸入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(x0 ~ x7)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排好成輸出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(y0 ~ y7)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248" name="接點: 肘形 247">
            <a:extLst>
              <a:ext uri="{FF2B5EF4-FFF2-40B4-BE49-F238E27FC236}">
                <a16:creationId xmlns:a16="http://schemas.microsoft.com/office/drawing/2014/main" id="{9C7D2DB1-BD93-0348-0C63-A3284562B33D}"/>
              </a:ext>
            </a:extLst>
          </p:cNvPr>
          <p:cNvCxnSpPr>
            <a:cxnSpLocks/>
            <a:stCxn id="220" idx="2"/>
            <a:endCxn id="20" idx="0"/>
          </p:cNvCxnSpPr>
          <p:nvPr/>
        </p:nvCxnSpPr>
        <p:spPr>
          <a:xfrm rot="5400000">
            <a:off x="3438568" y="430142"/>
            <a:ext cx="2166394" cy="73969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72" name="矩形 171">
            <a:extLst>
              <a:ext uri="{FF2B5EF4-FFF2-40B4-BE49-F238E27FC236}">
                <a16:creationId xmlns:a16="http://schemas.microsoft.com/office/drawing/2014/main" id="{400CFF5D-0D08-4566-DCDB-86B8391A396E}"/>
              </a:ext>
            </a:extLst>
          </p:cNvPr>
          <p:cNvSpPr/>
          <p:nvPr/>
        </p:nvSpPr>
        <p:spPr>
          <a:xfrm>
            <a:off x="1862521" y="5217416"/>
            <a:ext cx="590152" cy="21460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y1</a:t>
            </a:r>
            <a:endParaRPr lang="zh-TW" altLang="en-US" dirty="0"/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C75754C4-DDFC-700E-098F-71AFC2F4BE65}"/>
              </a:ext>
            </a:extLst>
          </p:cNvPr>
          <p:cNvSpPr/>
          <p:nvPr/>
        </p:nvSpPr>
        <p:spPr>
          <a:xfrm>
            <a:off x="1862521" y="5470338"/>
            <a:ext cx="590152" cy="21460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y2</a:t>
            </a:r>
            <a:endParaRPr lang="zh-TW" altLang="en-US" dirty="0"/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B5042975-9FAD-A5D0-4430-34AE79CFB731}"/>
              </a:ext>
            </a:extLst>
          </p:cNvPr>
          <p:cNvSpPr/>
          <p:nvPr/>
        </p:nvSpPr>
        <p:spPr>
          <a:xfrm>
            <a:off x="1862521" y="5723261"/>
            <a:ext cx="590152" cy="21460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y3</a:t>
            </a:r>
            <a:endParaRPr lang="zh-TW" altLang="en-US" dirty="0"/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F46EC405-5DB7-BDF0-6E24-0C3B23D58B5A}"/>
              </a:ext>
            </a:extLst>
          </p:cNvPr>
          <p:cNvSpPr/>
          <p:nvPr/>
        </p:nvSpPr>
        <p:spPr>
          <a:xfrm>
            <a:off x="1862521" y="5976183"/>
            <a:ext cx="590152" cy="21460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y4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27131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BD4581-D446-437D-A54B-68DDF2244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FF0066"/>
                </a:solidFill>
              </a:rPr>
              <a:t>挑戰題</a:t>
            </a:r>
            <a:br>
              <a:rPr lang="en-US" altLang="zh-TW" dirty="0"/>
            </a:br>
            <a:r>
              <a:rPr lang="en-US" altLang="zh-TW" dirty="0"/>
              <a:t>Verilog Code (sort8_tb.v)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2487684-1A4F-4C78-B498-993A6DB62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altLang="zh-TW" sz="1200" dirty="0"/>
              <a:t>module sort8_tb;</a:t>
            </a:r>
          </a:p>
          <a:p>
            <a:pPr marL="0" indent="0">
              <a:buNone/>
            </a:pPr>
            <a:r>
              <a:rPr lang="es-ES" altLang="zh-TW" sz="1200" dirty="0"/>
              <a:t>reg[7:0] x0, x1, x2, x3, x4, x5, x6, x7;</a:t>
            </a:r>
          </a:p>
          <a:p>
            <a:pPr marL="0" indent="0">
              <a:buNone/>
            </a:pPr>
            <a:r>
              <a:rPr lang="es-ES" altLang="zh-TW" sz="1200" dirty="0"/>
              <a:t>wire[7:0] y0, y1, y2, y3, y4, y5, y6, y7;</a:t>
            </a:r>
          </a:p>
          <a:p>
            <a:pPr marL="0" indent="0">
              <a:buNone/>
            </a:pPr>
            <a:r>
              <a:rPr lang="es-ES" altLang="zh-TW" sz="1200" dirty="0"/>
              <a:t>sort8 sorter(x0, x1, x2, x3, x4, x5, x6, x7, y0, y1, y2, y3, y4, y5, y6, y7);</a:t>
            </a:r>
          </a:p>
          <a:p>
            <a:pPr marL="0" indent="0">
              <a:buNone/>
            </a:pPr>
            <a:r>
              <a:rPr lang="es-ES" altLang="zh-TW" sz="1200" dirty="0"/>
              <a:t>initial</a:t>
            </a:r>
          </a:p>
          <a:p>
            <a:pPr marL="0" indent="0">
              <a:buNone/>
            </a:pPr>
            <a:r>
              <a:rPr lang="es-ES" altLang="zh-TW" sz="1200" dirty="0"/>
              <a:t>$monitor("Time: %3d ns, Input: x0 = %2d, x1 = %2d, x2 = %2d, x3 = %2d, x4 = %2d, x5 = %2d, x6 = %2d, x7 = %2d Output: y0 = %2d, y1 = %2d, y2 = %2d, y3 = %2d, y4 = %2d, y5 = %2d, y6 = %2d, y7 = %2d", $time,x0, x1, x2, x3, x4, x5, x6, x7, y0, y1, y2, y3, y4, y5, y6, y7);</a:t>
            </a:r>
          </a:p>
          <a:p>
            <a:pPr marL="0" indent="0">
              <a:buNone/>
            </a:pPr>
            <a:r>
              <a:rPr lang="es-ES" altLang="zh-TW" sz="1200" dirty="0"/>
              <a:t>initial begin</a:t>
            </a:r>
          </a:p>
          <a:p>
            <a:pPr marL="0" indent="0">
              <a:buNone/>
            </a:pPr>
            <a:r>
              <a:rPr lang="es-ES" altLang="zh-TW" sz="1200" dirty="0"/>
              <a:t>	#10 x0 = 8'd8; x1 = 8'd7; x2 = 8'd6; x3 = 8'd5; x4 = 8'd4; x5 = 8'd3; x6 = 8'd2; x7 = 8'd1;</a:t>
            </a:r>
          </a:p>
          <a:p>
            <a:pPr marL="0" indent="0">
              <a:buNone/>
            </a:pPr>
            <a:r>
              <a:rPr lang="es-ES" altLang="zh-TW" sz="1200" dirty="0"/>
              <a:t>	#10 x0 = 8'd5; x1 = 8'd6; x2 = 8'd7; x3 = 8'd8; x4 = 8'd1; x5 = 8'd2; x6 = 8'd3; x7 = 8'd4;</a:t>
            </a:r>
          </a:p>
          <a:p>
            <a:pPr marL="0" indent="0">
              <a:buNone/>
            </a:pPr>
            <a:r>
              <a:rPr lang="es-ES" altLang="zh-TW" sz="1200" dirty="0"/>
              <a:t>	#10 x0 = 8'd8; x1 = 8'd7; x2 = 8'd4; x3 = 8'd3; x4 = 8'd5; x5 = 8'd6; x6 = 8'd2; x7 = 8'd1;</a:t>
            </a:r>
          </a:p>
          <a:p>
            <a:pPr marL="0" indent="0">
              <a:buNone/>
            </a:pPr>
            <a:r>
              <a:rPr lang="es-ES" altLang="zh-TW" sz="1200" dirty="0"/>
              <a:t>	#10 x0 = 8'd18; x1 = 8'd72; x2 = 8'd36; x3 = 8'd58; x4 = 8'd44; x5 = 8'd73; x6 = 8'd27; x7 = 8'd31;</a:t>
            </a:r>
          </a:p>
          <a:p>
            <a:pPr marL="0" indent="0">
              <a:buNone/>
            </a:pPr>
            <a:r>
              <a:rPr lang="es-ES" altLang="zh-TW" sz="1200" dirty="0"/>
              <a:t>	#10 x0 = 8'd80; x1 = 8'd86; x2 = 8'd56; x3 = 8'd1; x4 = 8'd52; x5 = 8'd12; x6 = 8'd20; x7 = 8'd17;</a:t>
            </a:r>
          </a:p>
          <a:p>
            <a:pPr marL="0" indent="0">
              <a:buNone/>
            </a:pPr>
            <a:r>
              <a:rPr lang="es-ES" altLang="zh-TW" sz="1200" dirty="0"/>
              <a:t>	#10 x0 = 8'd8; x1 = 8'd17; x2 = 8'd69; x3 = 8'd42; x4 = 8'd90; x5 = 8'd0; x6 = 8'd89; x7 = 8'd42;</a:t>
            </a:r>
          </a:p>
          <a:p>
            <a:pPr marL="0" indent="0">
              <a:buNone/>
            </a:pPr>
            <a:r>
              <a:rPr lang="es-ES" altLang="zh-TW" sz="1200" dirty="0"/>
              <a:t>	#20 $finish;</a:t>
            </a:r>
          </a:p>
          <a:p>
            <a:pPr marL="0" indent="0">
              <a:buNone/>
            </a:pPr>
            <a:r>
              <a:rPr lang="es-ES" altLang="zh-TW" sz="1200" dirty="0"/>
              <a:t>end</a:t>
            </a:r>
          </a:p>
          <a:p>
            <a:pPr marL="0" indent="0">
              <a:buNone/>
            </a:pPr>
            <a:r>
              <a:rPr lang="es-ES" altLang="zh-TW" sz="1200" dirty="0"/>
              <a:t>endmodule</a:t>
            </a:r>
            <a:endParaRPr lang="zh-TW" altLang="en-US" sz="12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5B054EF-4C33-4E0A-99F7-33689C3C08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6739E1-4F7D-4A52-BD40-FD1F0A58EA9D}" type="slidenum">
              <a:rPr lang="en-US" altLang="zh-TW" smtClean="0"/>
              <a:pPr>
                <a:defRPr/>
              </a:pPr>
              <a:t>8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545707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FF0066"/>
                </a:solidFill>
              </a:rPr>
              <a:t>挑戰題</a:t>
            </a:r>
            <a:br>
              <a:rPr lang="en-US" altLang="zh-TW" dirty="0"/>
            </a:br>
            <a:r>
              <a:rPr lang="en-US" altLang="zh-TW" dirty="0"/>
              <a:t>Text Message Output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無延遲</a:t>
            </a:r>
            <a:r>
              <a:rPr lang="en-US" altLang="zh-TW" dirty="0"/>
              <a:t>)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238471"/>
            <a:ext cx="11431302" cy="5328000"/>
          </a:xfrm>
        </p:spPr>
        <p:txBody>
          <a:bodyPr/>
          <a:lstStyle/>
          <a:p>
            <a:pPr marL="0" indent="0">
              <a:buNone/>
            </a:pPr>
            <a:r>
              <a:rPr lang="es-ES" altLang="zh-TW" sz="1200" dirty="0"/>
              <a:t># Time:   0 ns, Input: x0 =  x, x1 =  x, x2 =  x, x3 =  x, x4 =  x, x5 =  x, x6 =  x, x7 =  x Output: y0 =  x, y1 =  x, y2 =  x, y3 =  x, y4 =  x, y5 =  x, y6 =  x, y7 =  x</a:t>
            </a:r>
          </a:p>
          <a:p>
            <a:pPr marL="0" indent="0">
              <a:buNone/>
            </a:pPr>
            <a:r>
              <a:rPr lang="es-ES" altLang="zh-TW" sz="1200" dirty="0"/>
              <a:t># Time:  10 ns, Input: x0 =  8, x1 =  7, x2 =  6, x3 =  5, x4 =  4, x5 =  3, x6 =  2, x7 =  1 Output: y0 =  1, y1 =  2, y2 =  3, y3 =  4, y4 =  5, y5 =  6, y6 =  7, y7 =  8</a:t>
            </a:r>
          </a:p>
          <a:p>
            <a:pPr marL="0" indent="0">
              <a:buNone/>
            </a:pPr>
            <a:r>
              <a:rPr lang="es-ES" altLang="zh-TW" sz="1200" dirty="0"/>
              <a:t># Time:  20 ns, Input: x0 =  5, x1 =  6, x2 =  7, x3 =  8, x4 =  1, x5 =  2, x6 =  3, x7 =  4 Output: y0 =  1, y1 =  2, y2 =  3, y3 =  4, y4 =  5, y5 =  6, y6 =  7, y7 =  8</a:t>
            </a:r>
          </a:p>
          <a:p>
            <a:pPr marL="0" indent="0">
              <a:buNone/>
            </a:pPr>
            <a:r>
              <a:rPr lang="es-ES" altLang="zh-TW" sz="1200" dirty="0"/>
              <a:t># Time:  30 ns, Input: x0 =  8, x1 =  7, x2 =  4, x3 =  3, x4 =  5, x5 =  6, x6 =  2, x7 =  1 Output: y0 =  1, y1 =  2, y2 =  3, y3 =  4, y4 =  5, y5 =  6, y6 =  7, y7 =  8</a:t>
            </a:r>
          </a:p>
          <a:p>
            <a:pPr marL="0" indent="0">
              <a:buNone/>
            </a:pPr>
            <a:r>
              <a:rPr lang="es-ES" altLang="zh-TW" sz="1200" dirty="0"/>
              <a:t># Time:  40 ns, Input: x0 = 18, x1 = 72, x2 = 36, x3 = 58, x4 = 44, x5 = 73, x6 = 27, x7 = 31 Output: y0 = 18, y1 = 27, y2 = 31, y3 = 36, y4 = 44, y5 = 58, y6 = 72, y7 = 73</a:t>
            </a:r>
          </a:p>
          <a:p>
            <a:pPr marL="0" indent="0">
              <a:buNone/>
            </a:pPr>
            <a:r>
              <a:rPr lang="es-ES" altLang="zh-TW" sz="1200" dirty="0"/>
              <a:t># Time:  50 ns, Input: x0 = 80, x1 = 86, x2 = 56, x3 =  1, x4 = 52, x5 = 12, x6 = 20, x7 = 17 Output: y0 =  1, y1 = 12, y2 = 17, y3 = 20, y4 = 52, y5 = 56, y6 = 80, y7 = 86</a:t>
            </a:r>
          </a:p>
          <a:p>
            <a:pPr marL="0" indent="0">
              <a:buNone/>
            </a:pPr>
            <a:r>
              <a:rPr lang="es-ES" altLang="zh-TW" sz="1200" dirty="0"/>
              <a:t># Time:  60 ns, Input: x0 =  8, x1 = 17, x2 = 69, x3 = 42, x4 = 90, x5 =  0, x6 = 89, x7 = 42 Output: y0 =  0, y1 =  8, y2 = 17, y3 = 42, y4 = 42, y5 = 69, y6 = 89, y7 = 90</a:t>
            </a:r>
          </a:p>
          <a:p>
            <a:pPr marL="0" indent="0">
              <a:buNone/>
            </a:pPr>
            <a:r>
              <a:rPr lang="es-ES" altLang="zh-TW" sz="1200" dirty="0"/>
              <a:t># ** Note: $finish    : C:/intelFPGA/20.1/sort8_tb.v(14)</a:t>
            </a:r>
          </a:p>
          <a:p>
            <a:pPr marL="0" indent="0">
              <a:buNone/>
            </a:pPr>
            <a:r>
              <a:rPr lang="es-ES" altLang="zh-TW" sz="1200" dirty="0"/>
              <a:t>#    Time: 80 ps  Iteration: 0  Instance: /sort8_tb</a:t>
            </a:r>
            <a:endParaRPr lang="en-US" altLang="zh-TW" sz="12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6739E1-4F7D-4A52-BD40-FD1F0A58EA9D}" type="slidenum">
              <a:rPr lang="en-US" altLang="zh-TW" smtClean="0"/>
              <a:pPr>
                <a:defRPr/>
              </a:pPr>
              <a:t>9</a:t>
            </a:fld>
            <a:endParaRPr lang="en-US" altLang="zh-TW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0107802-9779-273C-CAE9-AB15C5295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0" y="5840678"/>
            <a:ext cx="9144000" cy="101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387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FF0066"/>
                </a:solidFill>
              </a:rPr>
              <a:t>挑戰題</a:t>
            </a:r>
            <a:br>
              <a:rPr lang="en-US" altLang="zh-TW" dirty="0"/>
            </a:br>
            <a:r>
              <a:rPr lang="en-US" altLang="zh-TW" dirty="0"/>
              <a:t>Text Message Output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有延遲</a:t>
            </a:r>
            <a:r>
              <a:rPr lang="en-US" altLang="zh-TW" dirty="0"/>
              <a:t>#2)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6739E1-4F7D-4A52-BD40-FD1F0A58EA9D}" type="slidenum">
              <a:rPr lang="en-US" altLang="zh-TW" smtClean="0"/>
              <a:pPr>
                <a:defRPr/>
              </a:pPr>
              <a:t>10</a:t>
            </a:fld>
            <a:endParaRPr lang="en-US" altLang="zh-TW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82D70C1-1943-DB6F-EE35-1D7AEF681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0" y="2055297"/>
            <a:ext cx="9144000" cy="341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879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FF0066"/>
                </a:solidFill>
              </a:rPr>
              <a:t>挑戰題</a:t>
            </a:r>
            <a:br>
              <a:rPr lang="en-US" altLang="zh-TW" dirty="0"/>
            </a:br>
            <a:r>
              <a:rPr lang="en-US" altLang="zh-TW" dirty="0"/>
              <a:t>Simulation Waveform(</a:t>
            </a:r>
            <a:r>
              <a:rPr lang="zh-TW" altLang="en-US" dirty="0"/>
              <a:t>無延遲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6739E1-4F7D-4A52-BD40-FD1F0A58EA9D}" type="slidenum">
              <a:rPr lang="en-US" altLang="zh-TW" smtClean="0"/>
              <a:pPr>
                <a:defRPr/>
              </a:pPr>
              <a:t>11</a:t>
            </a:fld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D4931EA-63FD-AA01-F04E-A5CF67DF8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3248"/>
            <a:ext cx="9144000" cy="3891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20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FF0066"/>
                </a:solidFill>
              </a:rPr>
              <a:t>挑戰題</a:t>
            </a:r>
            <a:br>
              <a:rPr lang="en-US" altLang="zh-TW" dirty="0"/>
            </a:br>
            <a:r>
              <a:rPr lang="en-US" altLang="zh-TW" dirty="0"/>
              <a:t>Simulation Waveform(</a:t>
            </a:r>
            <a:r>
              <a:rPr lang="zh-TW" altLang="en-US" dirty="0"/>
              <a:t>有延遲</a:t>
            </a:r>
            <a:r>
              <a:rPr lang="en-US" altLang="zh-TW" dirty="0"/>
              <a:t>#2)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6739E1-4F7D-4A52-BD40-FD1F0A58EA9D}" type="slidenum">
              <a:rPr lang="en-US" altLang="zh-TW" smtClean="0"/>
              <a:pPr>
                <a:defRPr/>
              </a:pPr>
              <a:t>12</a:t>
            </a:fld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F497C6A-EA20-08D5-74E8-8060C9A69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4212"/>
            <a:ext cx="9144000" cy="427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417762"/>
      </p:ext>
    </p:extLst>
  </p:cSld>
  <p:clrMapOvr>
    <a:masterClrMapping/>
  </p:clrMapOvr>
</p:sld>
</file>

<file path=ppt/theme/theme1.xml><?xml version="1.0" encoding="utf-8"?>
<a:theme xmlns:a="http://schemas.openxmlformats.org/drawingml/2006/main" name="2_rdchen_template">
  <a:themeElements>
    <a:clrScheme name="2_rdchen_template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2_rdchen_template">
      <a:majorFont>
        <a:latin typeface="Arial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rdchen_templat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rdchen_template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rdchen_template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rdchen_template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rdchen_templat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rdchen_templat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dig_lab_11</Template>
  <TotalTime>28846</TotalTime>
  <Words>1595</Words>
  <Application>Microsoft Office PowerPoint</Application>
  <PresentationFormat>如螢幕大小 (4:3)</PresentationFormat>
  <Paragraphs>116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微軟正黑體</vt:lpstr>
      <vt:lpstr>Arial</vt:lpstr>
      <vt:lpstr>Tahoma</vt:lpstr>
      <vt:lpstr>Wingdings</vt:lpstr>
      <vt:lpstr>2_rdchen_template</vt:lpstr>
      <vt:lpstr>PowerPoint 簡報</vt:lpstr>
      <vt:lpstr>作業 Verilog Code (sort4_tb.v)</vt:lpstr>
      <vt:lpstr>作業 Text Message Output (無延遲)</vt:lpstr>
      <vt:lpstr>作業 Text Message Output (有延遲 #2 )</vt:lpstr>
      <vt:lpstr>作業 Simulation Waveform (無延遲)</vt:lpstr>
      <vt:lpstr>作業 Simulation Waveform (有延遲#2)</vt:lpstr>
      <vt:lpstr>挑戰題 sort8電路方塊圖 </vt:lpstr>
      <vt:lpstr>挑戰題 Verilog Code (sort8_tb.v)</vt:lpstr>
      <vt:lpstr>挑戰題 Text Message Output (無延遲) </vt:lpstr>
      <vt:lpstr>挑戰題 Text Message Output (有延遲#2) </vt:lpstr>
      <vt:lpstr>挑戰題 Simulation Waveform(無延遲)</vt:lpstr>
      <vt:lpstr>挑戰題 Simulation Waveform(有延遲#2)</vt:lpstr>
    </vt:vector>
  </TitlesOfParts>
  <Company>ncue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rdchen</dc:creator>
  <cp:lastModifiedBy>jjjghu /</cp:lastModifiedBy>
  <cp:revision>3909</cp:revision>
  <cp:lastPrinted>2014-02-16T15:44:29Z</cp:lastPrinted>
  <dcterms:created xsi:type="dcterms:W3CDTF">2003-02-18T03:13:54Z</dcterms:created>
  <dcterms:modified xsi:type="dcterms:W3CDTF">2023-10-25T07:17:54Z</dcterms:modified>
</cp:coreProperties>
</file>